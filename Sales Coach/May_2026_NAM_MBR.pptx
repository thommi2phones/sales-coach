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NAM MBR · Thomas R Lindsey · 06.03.2026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424160" y="6537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SUPERMETRICS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A0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BUSINESS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NAM MBR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R Lindsey  ·  06.03.2026  ·  Supermetrics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297680"/>
            <a:ext cx="9601200" cy="502920"/>
          </a:xfrm>
          <a:prstGeom prst="roundRect">
            <a:avLst>
              <a:gd name="adj" fmla="val 49091"/>
            </a:avLst>
          </a:prstGeom>
          <a:solidFill>
            <a:srgbClr val="143A2E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4315968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Revenue recovered to 86%  ·  Scotiabank closed $35k  ·  pipe gen fell to ~54%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Overview — The Mirror Image of April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325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GOALS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5669280" cy="13716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45920"/>
            <a:ext cx="73152" cy="1371600"/>
          </a:xfrm>
          <a:prstGeom prst="rect">
            <a:avLst/>
          </a:prstGeom>
          <a:solidFill>
            <a:srgbClr val="E170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5564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REVENUE (LAST MONTH)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0574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$17,213 / 37%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94360" y="2606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revenue month in some time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669280" cy="13716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645920"/>
            <a:ext cx="73152" cy="1371600"/>
          </a:xfrm>
          <a:prstGeom prst="rect">
            <a:avLst/>
          </a:prstGeom>
          <a:solidFill>
            <a:srgbClr val="00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75564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ACTUAL REVENUE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46520" y="20574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$40,379 / 86%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46520" y="2606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revenue month in some time · Scotiabank $35k anchor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246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GOALS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66160"/>
            <a:ext cx="5669280" cy="13716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566160"/>
            <a:ext cx="73152" cy="1371600"/>
          </a:xfrm>
          <a:prstGeom prst="rect">
            <a:avLst/>
          </a:prstGeom>
          <a:solidFill>
            <a:srgbClr val="00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67588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PIPELINE CREATED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39776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$193,100 / 103%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94360" y="45262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deals · first month over goal in 2026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3566160"/>
            <a:ext cx="5669280" cy="13716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3566160"/>
            <a:ext cx="73152" cy="1371600"/>
          </a:xfrm>
          <a:prstGeom prst="rect">
            <a:avLst/>
          </a:prstGeom>
          <a:solidFill>
            <a:srgbClr val="E170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367588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PIPELINE CREATED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46520" y="39776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~$101,000 / ~54%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446520" y="45262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deals · ~$5k avg ACV · calls collapsed to 39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5166360"/>
            <a:ext cx="11475720" cy="1188720"/>
          </a:xfrm>
          <a:prstGeom prst="roundRect">
            <a:avLst>
              <a:gd name="adj" fmla="val 7692"/>
            </a:avLst>
          </a:prstGeom>
          <a:solidFill>
            <a:srgbClr val="143A2E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257800"/>
            <a:ext cx="11109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headline: </a:t>
            </a:r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delivered the most pipeline and the worst revenue of the year. May flipped both — revenue recovered to 86%, conversion worked (Scotiabank). The new gap is the inverse of April's: the top of the funnel went quiet. </a:t>
            </a:r>
            <a:pPr indent="0" marL="0">
              <a:buNone/>
            </a:pPr>
            <a:r>
              <a:rPr lang="en-US" sz="130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has to do both motions at once.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Plan — How It Played Out in May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5669280" cy="36576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MITs (FROM APRIL PLAN)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303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MEDDICC Operationalized — WORKED (where applied)
</a:t>
            </a:r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Scotiabank $35k closed the MEDDICC way — EB + engineering engaged, technical call, security review navigated. The plan's #1 named deal converted.
</a:t>
            </a:r>
            <a:pPr indent="0" marL="0">
              <a:buNone/>
            </a:pPr>
            <a:r>
              <a:rPr lang="en-US" sz="120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TOFU at the activity level — FAIL
</a:t>
            </a:r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Calls fell to 39 (from 280). The daily numbers were the plan; they didn't get hit. Pipe gen dropped to ~54%.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280160"/>
            <a:ext cx="5669280" cy="36576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417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1737360"/>
            <a:ext cx="5303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Call Prep blocks held (~18) — but didn't convert to dials (39)
</a:t>
            </a:r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The block was on the calendar; the calls weren't made inside it. The single most coachable item.
</a:t>
            </a:r>
            <a:pPr indent="0" marL="0">
              <a:buNone/>
            </a:pPr>
            <a:r>
              <a:rPr lang="en-US" sz="11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MEDDICC depth on Scotiabank — multi-threaded, security-led, EB engaged
</a:t>
            </a:r>
            <a:pPr indent="0" marL="0">
              <a:buNone/>
            </a:pPr>
            <a:r>
              <a:rPr lang="en-US" sz="110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MEDDICC breadth missing — DTCC ($25k) &amp; Industry Dive ($20k) lost without the same motion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5166360"/>
            <a:ext cx="11475720" cy="1188720"/>
          </a:xfrm>
          <a:prstGeom prst="roundRect">
            <a:avLst>
              <a:gd name="adj" fmla="val 7692"/>
            </a:avLst>
          </a:prstGeom>
          <a:solidFill>
            <a:srgbClr val="222632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5257800"/>
            <a:ext cx="11109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one-sentence read: </a:t>
            </a:r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was a closing sprint — it converted the flagship deal the April plan was built around, but it did so by coming off the phones. </a:t>
            </a:r>
            <a:pPr indent="0" marL="0">
              <a:buNone/>
            </a:pPr>
            <a:r>
              <a:rPr lang="en-US" sz="130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sprint is not a system — June has to run conversion and prospecting in parallel.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Review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3703320" cy="41148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54864" cy="4114800"/>
          </a:xfrm>
          <a:prstGeom prst="rect">
            <a:avLst/>
          </a:prstGeom>
          <a:solidFill>
            <a:srgbClr val="00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DID WELL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429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Scotiabank closed — $35k. </a:t>
            </a:r>
            <a:pPr indent="0" marL="0">
              <a:buNone/>
            </a:pPr>
            <a:r>
              <a:rPr lang="en-US" sz="10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April anchor, won via the full MEDDICC motion.
</a:t>
            </a:r>
            <a:pPr indent="0" marL="0">
              <a:buNone/>
            </a:pPr>
            <a:r>
              <a:rPr lang="en-US" sz="105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Revenue recovery 37% → 86% — best revenue month in some time
</a:t>
            </a:r>
            <a:pPr indent="0" marL="0">
              <a:buNone/>
            </a:pPr>
            <a:r>
              <a:rPr lang="en-US" sz="105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Flor ($5.4k) — second fast MCP/Claude close; AI pattern still repeatable
</a:t>
            </a:r>
            <a:pPr indent="0" marL="0">
              <a:buNone/>
            </a:pPr>
            <a:r>
              <a:rPr lang="en-US" sz="105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CRM hygiene improved — SFDC blocks doubled (~8)
</a:t>
            </a:r>
            <a:pPr indent="0" marL="0">
              <a:buNone/>
            </a:pPr>
            <a:r>
              <a:rPr lang="en-US" sz="105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 disqualification working — Graff Auto (9d), S88 (11d)
</a:t>
            </a:r>
            <a:pPr indent="0" marL="0">
              <a:buNone/>
            </a:pPr>
            <a:r>
              <a:rPr lang="en-US" sz="105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Contact creation held (177) — raw material for June is there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51960" y="1280160"/>
            <a:ext cx="3703320" cy="41148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51960" y="1280160"/>
            <a:ext cx="54864" cy="4114800"/>
          </a:xfrm>
          <a:prstGeom prst="rect">
            <a:avLst/>
          </a:prstGeom>
          <a:solidFill>
            <a:srgbClr val="E170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4173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 NEED TO IMPROVE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34840" y="1828800"/>
            <a:ext cx="3429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Calls collapsed — 280 → 39. </a:t>
            </a:r>
            <a:pPr indent="0" marL="0">
              <a:buNone/>
            </a:pPr>
            <a:r>
              <a:rPr lang="en-US" sz="10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Call Prep blocks, 39 dials. The execution gap inside the block.
</a:t>
            </a:r>
            <a:pPr indent="0" marL="0">
              <a:buNone/>
            </a:pPr>
            <a:r>
              <a:rPr lang="en-US" sz="105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Pipe gen fell to ~54% — 20 small deals, two biggest lost same-month
</a:t>
            </a:r>
            <a:pPr indent="0" marL="0">
              <a:buNone/>
            </a:pPr>
            <a:r>
              <a:rPr lang="en-US" sz="105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MEDDICC not applied broadly — DTCC $25k &amp; Industry Dive $20k lost without it
</a:t>
            </a:r>
            <a:pPr indent="0" marL="0">
              <a:buNone/>
            </a:pPr>
            <a:r>
              <a:rPr lang="en-US" sz="105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Cadence discipline lapsed week of 5/18–5/22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280160"/>
            <a:ext cx="3703320" cy="41148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280160"/>
            <a:ext cx="54864" cy="4114800"/>
          </a:xfrm>
          <a:prstGeom prst="rect">
            <a:avLst/>
          </a:prstGeom>
          <a:solidFill>
            <a:srgbClr val="6C5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4173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DEAL LEARNINGS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21040" y="1828800"/>
            <a:ext cx="3429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Scotiabank win pattern: </a:t>
            </a:r>
            <a:pPr indent="0" marL="0">
              <a:buNone/>
            </a:pPr>
            <a:r>
              <a:rPr lang="en-US" sz="10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 + technical/engineering multi-thread + early security docs = the enterprise motion. Replicable.
</a:t>
            </a:r>
            <a:pPr indent="0" marL="0">
              <a:buNone/>
            </a:pPr>
            <a:r>
              <a:rPr lang="en-US" sz="105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Dive ($20k, 262 days): </a:t>
            </a:r>
            <a:pPr indent="0" marL="0">
              <a:buNone/>
            </a:pPr>
            <a:r>
              <a:rPr lang="en-US" sz="10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stale-deal death the 60-day rule was meant to prevent.
</a:t>
            </a:r>
            <a:pPr indent="0" marL="0">
              <a:buNone/>
            </a:pPr>
            <a:r>
              <a:rPr lang="en-US" sz="105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DTCC ($25k, 28 days): </a:t>
            </a:r>
            <a:pPr indent="0" marL="0">
              <a:buNone/>
            </a:pPr>
            <a:r>
              <a:rPr lang="en-US" sz="10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got the EB/technical motion that saved Scotiabank. Same lesson, opposite outcome.
</a:t>
            </a:r>
            <a:pPr indent="0" marL="0">
              <a:buNone/>
            </a:pPr>
            <a:r>
              <a:rPr lang="en-US" sz="105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volume bill: </a:t>
            </a:r>
            <a:pPr indent="0" marL="0">
              <a:buNone/>
            </a:pPr>
            <a:r>
              <a:rPr lang="en-US" sz="10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 off the phones is invisible in May's revenue but shows up in July's pipeline.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Scotiabank — Anatomy of the MEDDICC Win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$35k closed · 421-day cycle · Cross-sell · the deal the April plan was built around. The template for every enterprise deal going forward.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3703320" cy="448056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54480"/>
            <a:ext cx="45720" cy="4480560"/>
          </a:xfrm>
          <a:prstGeom prst="rect">
            <a:avLst/>
          </a:prstGeom>
          <a:solidFill>
            <a:srgbClr val="00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642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 RIGHT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34747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Multi-threaded late-stage into their engineering org — Director of Engineering + Lead &amp; Senior Solutions Architects
</a:t>
            </a:r>
            <a:pPr indent="0" marL="0">
              <a:buNone/>
            </a:pPr>
            <a:r>
              <a:rPr lang="en-US" sz="10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Ran a technical SE call with a written prep brief (5/27) — anticipated SFTP vs API vs Hub/BigQuery objections
</a:t>
            </a:r>
            <a:pPr indent="0" marL="0">
              <a:buNone/>
            </a:pPr>
            <a:r>
              <a:rPr lang="en-US" sz="10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Got security/DR docs into their vendor review early (4/24–4/28, confirmed received)
</a:t>
            </a:r>
            <a:pPr indent="0" marL="0">
              <a:buNone/>
            </a:pPr>
            <a:r>
              <a:rPr lang="en-US" sz="10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Kept the EB + decision path live through signature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51960" y="1554480"/>
            <a:ext cx="3703320" cy="448056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1554480"/>
            <a:ext cx="45720" cy="4480560"/>
          </a:xfrm>
          <a:prstGeom prst="rect">
            <a:avLst/>
          </a:prstGeom>
          <a:solidFill>
            <a:srgbClr val="74B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6642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CONVERTED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0" y="2011680"/>
            <a:ext cx="34747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Their engineering team tried to revalidate the ingestion method right before signature — and we were ready
</a:t>
            </a:r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security story ("we drop files inside your perimeter") fit a regulated bank's posture
</a:t>
            </a:r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partner motion gave an extra lever on the BigQuery option
</a:t>
            </a:r>
            <a:pPr indent="0" marL="0">
              <a:buNone/>
            </a:pPr>
            <a:r>
              <a:rPr lang="en-US" sz="10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April Uniphore lesson (no EB → lost) was inverted here (EB engaged → won)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3703320" cy="448056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554480"/>
            <a:ext cx="45720" cy="4480560"/>
          </a:xfrm>
          <a:prstGeom prst="rect">
            <a:avLst/>
          </a:prstGeom>
          <a:solidFill>
            <a:srgbClr val="00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6642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REPLICABLE PLAYBOOK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75320" y="2011680"/>
            <a:ext cx="34747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Late-stage = multi-thread into technical/engineering, not just the champion
</a:t>
            </a:r>
            <a:pPr indent="0" marL="0">
              <a:buNone/>
            </a:pPr>
            <a:r>
              <a:rPr lang="en-US" sz="10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technical call gets a prep brief
</a:t>
            </a:r>
            <a:pPr indent="0" marL="0">
              <a:buNone/>
            </a:pPr>
            <a:r>
              <a:rPr lang="en-US" sz="10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Push security/legal docs early, before they're asked for
</a:t>
            </a:r>
            <a:pPr indent="0" marL="0">
              <a:buNone/>
            </a:pPr>
            <a:r>
              <a:rPr lang="en-US" sz="10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</a:t>
            </a:r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the standard for Upwork, Grafton, AMBSE, BlueDoor, BT1D — June's $10k+ pipe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Pipeline Gen Recap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75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828800"/>
                <a:gridCol w="1463040"/>
                <a:gridCol w="50749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(ERR)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Business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~$63,000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~$4,800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Growth/Starter; BT1D $19k standout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~$14,000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~$4,700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Tracer (Vayner), Charter One, TaskRabbit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~$24,000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Chefman, Maxio — both lost same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/ Growth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Starter / Growth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~$101,000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~$5,050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657600"/>
            <a:ext cx="11475720" cy="457200"/>
          </a:xfrm>
          <a:prstGeom prst="rect">
            <a:avLst/>
          </a:prstGeom>
          <a:solidFill>
            <a:srgbClr val="3A2520"/>
          </a:solidFill>
          <a:ln w="6350">
            <a:solidFill>
              <a:srgbClr val="E1705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37033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Goal: </a:t>
            </a:r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$187,000  </a:t>
            </a:r>
            <a:pPr indent="0" marL="0">
              <a:buNone/>
            </a:pPr>
            <a:r>
              <a:rPr lang="en-US" sz="130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~54%</a:t>
            </a:r>
            <a:pPr indent="0" marL="0">
              <a:buNone/>
            </a:pPr>
            <a:r>
              <a:rPr lang="en-US" sz="13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arc broke after April's 103%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4572000"/>
            <a:ext cx="11475720" cy="1463040"/>
          </a:xfrm>
          <a:prstGeom prst="roundRect">
            <a:avLst>
              <a:gd name="adj" fmla="val 6250"/>
            </a:avLst>
          </a:prstGeom>
          <a:solidFill>
            <a:srgbClr val="3D2E0D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663440"/>
            <a:ext cx="11155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</a:t>
            </a:r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durable new pipeline is even thinner than $101k — the two biggest "new" deals (Diablo $18k, Maxio $12k) were closed lost within the same month. Average new-deal ACV fell to ~$5k (April: $8.4k).
</a:t>
            </a:r>
            <a:pPr indent="0" marL="0">
              <a:buNone/>
            </a:pPr>
            <a:r>
              <a:rPr lang="en-US" sz="1100" i="1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is deal-name-encoded ERR from HubSpot; the SF AE-Automation credit used in April isn't available this cycle — but the drop is real and large.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2026 — The Flip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325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GEN % TO GOAL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45920"/>
          <a:ext cx="55778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554480"/>
                <a:gridCol w="16459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Goal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January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170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February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DC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DC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170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52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29768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→ 90 → 89 → 103 → 54.  The pipe-gen arc broke.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309360" y="1325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% TO QUOTA</a:t>
            </a:r>
            <a:endParaRPr lang="en-US" sz="11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645920"/>
          <a:ext cx="55778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01168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Quota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$17,213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170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A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$40,379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A2E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309360" y="301752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→ 86.  The revenue arc turned up — as pipe gen turned down.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65760" y="4754880"/>
            <a:ext cx="11475720" cy="1280160"/>
          </a:xfrm>
          <a:prstGeom prst="roundRect">
            <a:avLst>
              <a:gd name="adj" fmla="val 7143"/>
            </a:avLst>
          </a:prstGeom>
          <a:solidFill>
            <a:srgbClr val="222632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4846320"/>
            <a:ext cx="11155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</a:t>
            </a:r>
            <a:pPr indent="0" marL="0">
              <a:buNone/>
            </a:pPr>
            <a:r>
              <a:rPr lang="en-US" sz="14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lines moved in opposite directions, two months running. That's not coincidence — it's a focus problem. </a:t>
            </a:r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isn't to pick one line; it's to lift both at once.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Closed Deal Execution — The Real Story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743200" cy="118872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(WON)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$40.4k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to quota · 2 deals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743200" cy="118872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WIN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29000" y="1645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$35k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29000" y="2194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Scotiabank · MEDDICC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2743200" cy="118872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LOST (Y1 ACV)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55080" y="1645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~$125k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55080" y="2194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deals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0" y="1280160"/>
            <a:ext cx="2743200" cy="118872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CLOSED ACTIVITY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281160" y="1645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−$85k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281160" y="2194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minus lost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2697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LOSSES THAT MATTERED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17520"/>
          <a:ext cx="11475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206240"/>
                <a:gridCol w="1280160"/>
                <a:gridCol w="3429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ACV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 what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 mid-funnel deaths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DTCC ($25k,28d), Industry Dive ($20k,262d), Diablo ($18k), Maxio ($12k), Future Builds ($12k)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170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~$87,000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the April pipeline. No EB/technical motion ran — the opposite of Scotiabank.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 carryover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Manhattan ($8k,84d), Promega ($5k,68d), Vooks (61d), Organicare ($2k,99d)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170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~$17,000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Long-cycle, no real next step. 60-day rule should have caught these.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disqualifications (good)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S88 (11d), Graff Auto (9d), Chefman (0d), Parc Safari (0d)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170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~$7,000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Died fast — the right behavior. Disqualification muscle developing.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365760" y="5532120"/>
            <a:ext cx="11475720" cy="822960"/>
          </a:xfrm>
          <a:prstGeom prst="roundRect">
            <a:avLst>
              <a:gd name="adj" fmla="val 11111"/>
            </a:avLst>
          </a:prstGeom>
          <a:solidFill>
            <a:srgbClr val="143A2E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55961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 inside the month: 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deal that got the full MEDDICC motion (Scotiabank) won $35k; the two biggest that didn't (DTCC, Industry Dive) lost $45k. </a:t>
            </a:r>
            <a:pPr indent="0" marL="0">
              <a:buNone/>
            </a:pPr>
            <a:r>
              <a:rPr lang="en-US" sz="120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June's job: give every $10k+ deal the Scotiabank treatment.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MITs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5669280" cy="45720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71600"/>
            <a:ext cx="73152" cy="4572000"/>
          </a:xfrm>
          <a:prstGeom prst="rect">
            <a:avLst/>
          </a:prstGeom>
          <a:solidFill>
            <a:srgbClr val="74B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00200"/>
            <a:ext cx="731520" cy="731520"/>
          </a:xfrm>
          <a:prstGeom prst="ellipse">
            <a:avLst/>
          </a:prstGeom>
          <a:solidFill>
            <a:srgbClr val="74B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27632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554480" y="16916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THE DIAL ENGINE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5166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Call Prep blocks into </a:t>
            </a:r>
            <a:pPr indent="0" marL="0">
              <a:buNone/>
            </a:pPr>
            <a:r>
              <a:rPr lang="en-US" sz="13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≥15 dials every working day</a:t>
            </a:r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200+ calls for June. The structure already held in May (~18 blocks); the failure was execution inside the block (39 dials). Rebuild Cadence discipline — no skipped weeks like 5/18–5/22.
</a:t>
            </a:r>
            <a:pPr indent="0" marL="0">
              <a:buNone/>
            </a:pPr>
            <a:r>
              <a:rPr lang="en-US" sz="1100" i="1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MIT — May's revenue was bought by coming off the phones. June refuses that trade.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669280" cy="45720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371600"/>
            <a:ext cx="73152" cy="4572000"/>
          </a:xfrm>
          <a:prstGeom prst="rect">
            <a:avLst/>
          </a:prstGeom>
          <a:solidFill>
            <a:srgbClr val="6C5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7960" y="1600200"/>
            <a:ext cx="731520" cy="731520"/>
          </a:xfrm>
          <a:prstGeom prst="ellipse">
            <a:avLst/>
          </a:prstGeom>
          <a:solidFill>
            <a:srgbClr val="6C5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627632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406640" y="16916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MEDDICC BREADTH — EVERY $10k+ DEAL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2560320"/>
            <a:ext cx="5166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Scotiabank proved the motion. Now make it the standard, not the exception: EB engaged before pricing, technical multi-thread, security docs early, MAP shared — on Upwork, Grafton, AMBSE, BlueDoor, BT1D. Disqualify-at-day-60 enforced (the Industry Dive lesson).
</a:t>
            </a:r>
            <a:pPr indent="0" marL="0">
              <a:buNone/>
            </a:pPr>
            <a:r>
              <a:rPr lang="en-US" sz="1100" i="1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proved depth on one deal. June proves breadth across the portfolio.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Funnel Math — Top-Down Derivation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5669280" cy="41148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INPUTS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303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June quota: </a:t>
            </a:r>
            <a:pPr indent="0" marL="0">
              <a:buNone/>
            </a:pPr>
            <a:r>
              <a:rPr lang="en-US" sz="12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$46,750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(unchanged)
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4× pipeline goal: </a:t>
            </a:r>
            <a:pPr indent="0" marL="0">
              <a:buNone/>
            </a:pPr>
            <a:r>
              <a:rPr lang="en-US" sz="12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$187,000
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 target: </a:t>
            </a:r>
            <a:pPr indent="0" marL="0">
              <a:buNone/>
            </a:pPr>
            <a:r>
              <a:rPr lang="en-US" sz="12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$200,000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(+7% buffer)
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ACV baseline: </a:t>
            </a:r>
            <a:pPr indent="0" marL="0">
              <a:buNone/>
            </a:pPr>
            <a:r>
              <a:rPr lang="en-US" sz="12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$11,000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(6-mo avg, anchored by Scotiabank $35k)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BACKED-OUT TARGETS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Deals needed: </a:t>
            </a:r>
            <a:pPr indent="0" marL="0">
              <a:buNone/>
            </a:pPr>
            <a:r>
              <a:rPr lang="en-US" sz="12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($200k ÷ $11k)
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Booked meetings: </a:t>
            </a:r>
            <a:pPr indent="0" marL="0">
              <a:buNone/>
            </a:pPr>
            <a:r>
              <a:rPr lang="en-US" sz="12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Contacts enrolled: </a:t>
            </a:r>
            <a:pPr indent="0" marL="0">
              <a:buNone/>
            </a:pPr>
            <a:r>
              <a:rPr lang="en-US" sz="12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~330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(May held 177 — push back up)
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Calls: </a:t>
            </a:r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explicit fix for the May miss (39 → 300)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669280" cy="41148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3716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BASELINE → JUNE TARGET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91640"/>
          <a:ext cx="53035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914400"/>
                <a:gridCol w="91440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 logged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+669%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Contacts created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Emails sent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deals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DC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· larger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 generated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~$101k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400800" y="466344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lever is calls. May's 39 is the anomaly to fix; everything else follows from putting dials back inside the Call Prep blocks that already exist.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" y="5577840"/>
            <a:ext cx="11475720" cy="777240"/>
          </a:xfrm>
          <a:prstGeom prst="roundRect">
            <a:avLst>
              <a:gd name="adj" fmla="val 11765"/>
            </a:avLst>
          </a:prstGeom>
          <a:solidFill>
            <a:srgbClr val="222632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56509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shift: 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proved volume. May proved conversion. </a:t>
            </a:r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proves both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dial engine back on, with Scotiabank-grade MEDDICC behind every $10k+ deal.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Daily Activity Targets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working days in June (Jun 1–30; Juneteenth 6/19 holiday). The May lesson: a block on the calendar is not a dial made. June counts dials, not blocks.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45920"/>
          <a:ext cx="114757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280160"/>
                <a:gridCol w="1463040"/>
                <a:gridCol w="46177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(avg)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(21d)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 / dials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~15/day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May miss (39). Made inside Call Prep blocks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contacts enrolled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~16/day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Email-verified before enroll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Emails sent (cadence)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~48/day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Cadence queue worked 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 touches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~10/day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connect + 3 InMail + 3 comments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Net-new accounts worked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~4/day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 list-build to refill funnel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Booked meetings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~3/day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closing + new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Net-new deals created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~4-5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~1/day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Fewer, larger · $11k+ ACV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5440680"/>
            <a:ext cx="11475720" cy="914400"/>
          </a:xfrm>
          <a:prstGeom prst="roundRect">
            <a:avLst>
              <a:gd name="adj" fmla="val 10000"/>
            </a:avLst>
          </a:prstGeom>
          <a:solidFill>
            <a:srgbClr val="3D2E0D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5532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"no exceptions" line: </a:t>
            </a:r>
            <a:pPr indent="0" marL="0">
              <a:buNone/>
            </a:pPr>
            <a:r>
              <a:rPr lang="en-US" sz="12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dials on every working day. 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had the blocks (~18 Call Prep) and missed the dials (39 total). The metric that matters is calls made, not calendar coverage.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 the Activities — Dials Inside the Blocks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1475720" cy="822960"/>
          </a:xfrm>
          <a:prstGeom prst="roundRect">
            <a:avLst>
              <a:gd name="adj" fmla="val 11111"/>
            </a:avLst>
          </a:prstGeom>
          <a:solidFill>
            <a:srgbClr val="231D3D"/>
          </a:solidFill>
          <a:ln w="19050">
            <a:solidFill>
              <a:srgbClr val="6C5C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Commit: </a:t>
            </a:r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Reclaim blocks already exist and held in May. The June change is </a:t>
            </a:r>
            <a:pPr indent="0" marL="0">
              <a:buNone/>
            </a:pPr>
            <a:r>
              <a:rPr lang="en-US" sz="13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inside the block</a:t>
            </a:r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Call Prep block ends with dials logged in HubSpot, tracked daily, reviewed Friday. In June the dial count is the contract.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3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list build</a:t>
            </a:r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indent="0" marL="0">
              <a:buNone/>
            </a:pPr>
            <a:r>
              <a:rPr lang="en-US" sz="1100" b="1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Mondays · 60 min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20 net-new accounts to refill the funnel May thinned: ZoomInfo + intent + 2025 closed-lost rework.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761488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3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enrollment</a:t>
            </a:r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indent="0" marL="0">
              <a:buNone/>
            </a:pPr>
            <a:r>
              <a:rPr lang="en-US" sz="1100" b="1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AM · 30 min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03580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 contacts/day · verify email before enroll.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3328416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3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+ dials</a:t>
            </a:r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indent="0" marL="0">
              <a:buNone/>
            </a:pPr>
            <a:r>
              <a:rPr lang="en-US" sz="1100" b="1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AM · 60 min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60273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~48 emails + ~15 dials due today — the dials are the part that slipped in May.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895344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3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block</a:t>
            </a:r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indent="0" marL="0">
              <a:buNone/>
            </a:pPr>
            <a:r>
              <a:rPr lang="en-US" sz="1100" b="1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midday · 20 min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169664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connect + 3 InMail + 3 comments on target-account posts.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462272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3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Mid-funnel block</a:t>
            </a:r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indent="0" marL="0">
              <a:buNone/>
            </a:pPr>
            <a:r>
              <a:rPr lang="en-US" sz="1100" b="1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PM · 60 min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73659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Scotiabank-style motion on every $10k+ deal: EB, technical multi-thread, security docs early.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502920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3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hygiene + MEDDICC</a:t>
            </a:r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indent="0" marL="0">
              <a:buNone/>
            </a:pPr>
            <a:r>
              <a:rPr lang="en-US" sz="1100" b="1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· 90 min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530352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Disqualify anything 60+ days with no next step (Industry Dive rule). Update MEDDICC card on every Stage 2+ deal.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5596128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3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Closed-lost rework</a:t>
            </a:r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indent="0" marL="0">
              <a:buNone/>
            </a:pPr>
            <a:r>
              <a:rPr lang="en-US" sz="1100" b="1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Tuesdays · 45 min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87044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accounts/wk from 2025 closed-lost · restart with MCP/AI angle.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True Pipeline — ~$167k Open (June-Close)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11475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468880"/>
                <a:gridCol w="1280160"/>
                <a:gridCol w="2011680"/>
                <a:gridCol w="1280160"/>
                <a:gridCol w="2606040"/>
              </a:tblGrid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Close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Soccer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MIC+DWH/DA | $40k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4B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BT1D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| $19k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4B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$5,700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MIC/MCP | $15k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C5C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 of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$6,750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Grafton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DWH | $15k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4B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 | $15k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4B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$6,750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BlueDoor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 | $10k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4B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Liberty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 | $6k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4B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Charter 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| $6k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4B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TaskRabbit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 Agent | $5k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4B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Furnished Finder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| $4k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4B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Kraken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| $3.5k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4B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(~13)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Growth/MCP/Starter $2-5k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~$28,500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~$8,500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 June-close deals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A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~$167,000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A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A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~$58,700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A2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585216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Scotiabank-sized anchor this month — June is a portfolio of $10–19k deals. That's why MEDDICC breadth is the MIT: depth on one deal won't carry the month.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Forecast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7315200" cy="50292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(HIGH-CONFIDENCE)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Furnished Finder — $2.8k (70%) </a:t>
            </a:r>
            <a:pPr indent="0" marL="0">
              <a:buNone/>
            </a:pPr>
            <a:r>
              <a:rPr lang="en-US" sz="11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MCP closeout
</a:t>
            </a:r>
            <a:pPr indent="0" marL="0">
              <a:buNone/>
            </a:pPr>
            <a:r>
              <a:rPr lang="en-US" sz="12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Kraken — $1.75k (50%) </a:t>
            </a:r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MCP, early-June close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DEALS (THE MONTH IS MADE HERE)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6949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US Soccer ($40k) — overdue, must re-date or disqualify by 6/5. </a:t>
            </a:r>
            <a:pPr indent="0" marL="0">
              <a:buNone/>
            </a:pPr>
            <a:r>
              <a:rPr lang="en-US" sz="11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single swing.
</a:t>
            </a:r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AMBSE ($15k) — carried main swing </a:t>
            </a:r>
            <a:pPr indent="0" marL="0">
              <a:buNone/>
            </a:pPr>
            <a:r>
              <a:rPr lang="en-US" sz="11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EB conversation before pricing
</a:t>
            </a:r>
            <a:pPr indent="0" marL="0">
              <a:buNone/>
            </a:pPr>
            <a:r>
              <a:rPr lang="en-US" sz="12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Upwork ($15k) </a:t>
            </a:r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POV · champion test / multi-thread
</a:t>
            </a:r>
            <a:pPr indent="0" marL="0">
              <a:buNone/>
            </a:pPr>
            <a:r>
              <a:rPr lang="en-US" sz="12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Grafton ($15k) </a:t>
            </a:r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get written decision criteria
</a:t>
            </a:r>
            <a:pPr indent="0" marL="0">
              <a:buNone/>
            </a:pPr>
            <a:r>
              <a:rPr lang="en-US" sz="12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BT1D ($19k) </a:t>
            </a:r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new $19k deal · build value narrative early
</a:t>
            </a:r>
            <a:pPr indent="0" marL="0">
              <a:buNone/>
            </a:pPr>
            <a:r>
              <a:rPr lang="en-US" sz="12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BlueDoor ($10k) </a:t>
            </a:r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POV · quantify pain or disqualify by 60d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5394960"/>
            <a:ext cx="6949440" cy="777240"/>
          </a:xfrm>
          <a:prstGeom prst="roundRect">
            <a:avLst>
              <a:gd name="adj" fmla="val 9412"/>
            </a:avLst>
          </a:prstGeom>
          <a:solidFill>
            <a:srgbClr val="3D2E0D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49824"/>
            <a:ext cx="66751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narrative: </a:t>
            </a:r>
            <a:pPr indent="0" marL="0">
              <a:buNone/>
            </a:pPr>
            <a:r>
              <a:rPr lang="en-US" sz="105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opens at $0 closed with no Scotiabank-sized lock in sight. Coverage is a portfolio of mid-size deals — converts only if MEDDICC runs on all of them. And the dials must come back, or July is the next April.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863840" y="1280160"/>
            <a:ext cx="4023360" cy="50292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/ OPEN PIPELINE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0" y="1783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Quota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0" y="17830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$46,750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0" y="2240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Won (MTD)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0" y="22402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0" y="2697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Pipeline (Jun)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0" y="26974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~$167,000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0" y="3154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Open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0" y="31546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~$58,700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0" y="3611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Open Deals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0" y="36118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~39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0" y="4069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vs Quota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0" y="40690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~1.26×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46720" y="46634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pipe covers quota ~1.26× — thinner cushion than May's Scotiabank-anchored start. Every $10k+ deal matters; none can be left without the MEDDICC motion.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MEDDICC — Replicate the Scotiabank Motion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1475720" cy="777240"/>
          </a:xfrm>
          <a:prstGeom prst="roundRect">
            <a:avLst>
              <a:gd name="adj" fmla="val 11765"/>
            </a:avLst>
          </a:prstGeom>
          <a:solidFill>
            <a:srgbClr val="143A2E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6187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proved MEDDICC converts flagship deals. The June job is breadth: 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exact Scotiabank motion on every $10k+ deal — not just the one that got attention. Depth won May's revenue; breadth wins June's portfolio.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3703320" cy="384048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148840"/>
            <a:ext cx="45720" cy="3840480"/>
          </a:xfrm>
          <a:prstGeom prst="rect">
            <a:avLst/>
          </a:prstGeom>
          <a:solidFill>
            <a:srgbClr val="00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2585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WON SCOTIABANK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pPr indent="0" marL="0">
              <a:buNone/>
            </a:pPr>
            <a:r>
              <a:rPr lang="en-US" sz="10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conomic Buyer — engaged + decision path live through signature
</a:t>
            </a:r>
            <a:pPr indent="0" marL="0">
              <a:buNone/>
            </a:pPr>
            <a:r>
              <a:rPr lang="en-US" sz="11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multi-thread</a:t>
            </a:r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engineering org, not just champion
</a:t>
            </a:r>
            <a:pPr indent="0" marL="0">
              <a:buNone/>
            </a:pPr>
            <a:r>
              <a:rPr lang="en-US" sz="11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pPr indent="0" marL="0">
              <a:buNone/>
            </a:pPr>
            <a:r>
              <a:rPr lang="en-US" sz="10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 Process — security/DR docs early, confirmed received
</a:t>
            </a:r>
            <a:pPr indent="0" marL="0">
              <a:buNone/>
            </a:pPr>
            <a:r>
              <a:rPr lang="en-US" sz="11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brief</a:t>
            </a:r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the technical call — objections anticipated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2148840"/>
            <a:ext cx="3703320" cy="384048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51960" y="2148840"/>
            <a:ext cx="45720" cy="3840480"/>
          </a:xfrm>
          <a:prstGeom prst="rect">
            <a:avLst/>
          </a:prstGeom>
          <a:solidFill>
            <a:srgbClr val="E170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22585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LOST DTCC + INDUSTRY DIVE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0" y="260604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EB / technical motion ran (DTCC, 28d)
</a:t>
            </a:r>
            <a:pPr indent="0" marL="0">
              <a:buNone/>
            </a:pPr>
            <a:r>
              <a:rPr lang="en-US" sz="100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262-day stale death, no next step (Industry Dive)
</a:t>
            </a:r>
            <a:pPr indent="0" marL="0">
              <a:buNone/>
            </a:pPr>
            <a:r>
              <a:rPr lang="en-US" sz="100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Pure-email follow-up on $20k+ deals
</a:t>
            </a:r>
            <a:pPr indent="0" marL="0">
              <a:buNone/>
            </a:pPr>
            <a:r>
              <a:rPr lang="en-US" sz="100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60-day disqualification rule not enforced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2148840"/>
            <a:ext cx="3703320" cy="384048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2148840"/>
            <a:ext cx="45720" cy="3840480"/>
          </a:xfrm>
          <a:prstGeom prst="rect">
            <a:avLst/>
          </a:prstGeom>
          <a:solidFill>
            <a:srgbClr val="74B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22585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OPERATING RHYTHM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75320" y="260604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Day 1: open MEDDICC card, rate R/Y/G
</a:t>
            </a:r>
            <a:pPr indent="0" marL="0">
              <a:buNone/>
            </a:pPr>
            <a:r>
              <a:rPr lang="en-US" sz="10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$10k+ deal: EB booked before pricing
</a:t>
            </a:r>
            <a:pPr indent="0" marL="0">
              <a:buNone/>
            </a:pPr>
            <a:r>
              <a:rPr lang="en-US" sz="10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technical call: written prep brief
</a:t>
            </a:r>
            <a:pPr indent="0" marL="0">
              <a:buNone/>
            </a:pPr>
            <a:r>
              <a:rPr lang="en-US" sz="10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Friday: disqualify anything 60d+ with no next step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MEDDICC Targets — Per Active Deal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major open deal · the red-to-fix dimension · the June action. Plus two loss autopsies carried from May.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00200"/>
          <a:ext cx="11475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  <a:gridCol w="2377440"/>
                <a:gridCol w="452628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Weakest Dimension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June 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Soccer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Process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next step or re-date / disqualify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6/5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BT1D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narrative + ROI on new deal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6/12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Multi-thread / champion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6/12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Grafton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Criteria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written must-haves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6/12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 Buyer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 conversation before pricing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6/10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BlueDoor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(urgency)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Quantify or disqualify by 60d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6/18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DTCC (autopsy)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5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170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5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 Buyer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5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1-pager: why no EB motion ran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5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5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Dive (autopsy)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5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170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5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Process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5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1-pager: the 262-day stale death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5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52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5486400"/>
            <a:ext cx="11475720" cy="822960"/>
          </a:xfrm>
          <a:prstGeom prst="roundRect">
            <a:avLst>
              <a:gd name="adj" fmla="val 11111"/>
            </a:avLst>
          </a:prstGeom>
          <a:solidFill>
            <a:srgbClr val="222632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55504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deals that won (Scotiabank) had EB + technical engagement; the deals that lost (DTCC, Industry Dive) didn't. </a:t>
            </a:r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lesson, second month — June is about not learning it a third time.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Focus — June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5669280" cy="237744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73152" cy="2377440"/>
          </a:xfrm>
          <a:prstGeom prst="rect">
            <a:avLst/>
          </a:prstGeom>
          <a:solidFill>
            <a:srgbClr val="74B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— DIAL DISCIPLINE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Blocks → ≥15 dials/day, logged in HubSpot, reviewed weekly
</a:t>
            </a:r>
            <a:pPr indent="0" marL="0">
              <a:buNone/>
            </a:pPr>
            <a:r>
              <a:rPr lang="en-US" sz="11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May gap was execution inside the block, not the calendar
</a:t>
            </a:r>
            <a:pPr indent="0" marL="0">
              <a:buNone/>
            </a:pPr>
            <a:r>
              <a:rPr lang="en-US" sz="11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Walk one day's call log in each 1:1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669280" cy="237744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280160"/>
            <a:ext cx="73152" cy="2377440"/>
          </a:xfrm>
          <a:prstGeom prst="rect">
            <a:avLst/>
          </a:prstGeom>
          <a:solidFill>
            <a:srgbClr val="6C5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417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— MEDDICC BREADTH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182880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Scotiabank motion on every $10k+ late-stage deal
</a:t>
            </a:r>
            <a:pPr indent="0" marL="0">
              <a:buNone/>
            </a:pPr>
            <a:r>
              <a:rPr lang="en-US" sz="11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deal card walked through every weekly 1:1
</a:t>
            </a:r>
            <a:pPr indent="0" marL="0">
              <a:buNone/>
            </a:pPr>
            <a:r>
              <a:rPr lang="en-US" sz="11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Disqualification-at-day-60 enforced (Industry Dive lesson)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840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&amp; CARRY-FORWARD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160520"/>
            <a:ext cx="11521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New theme — Sustain, don't sprint. 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was a closing sprint; June must run conversion and prospecting in parallel.
</a:t>
            </a:r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Carried forward: 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Narratives on $10k+ deals · Exec Summaries on top 3 · Discovery depth (the Scotiabank standard).
</a:t>
            </a:r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one-line goal: 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the revenue line AND the pipe-gen line in the same month — the thing neither April nor May managed.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May 2026 NAM MBR — Thomas R Lindsey</dc:title>
  <dc:subject>PptxGenJS Presentation</dc:subject>
  <dc:creator>Thomas R Lindsey</dc:creator>
  <cp:lastModifiedBy>Thomas R Lindsey</cp:lastModifiedBy>
  <cp:revision>1</cp:revision>
  <dcterms:created xsi:type="dcterms:W3CDTF">2026-06-03T01:17:10Z</dcterms:created>
  <dcterms:modified xsi:type="dcterms:W3CDTF">2026-06-03T01:17:10Z</dcterms:modified>
</cp:coreProperties>
</file>