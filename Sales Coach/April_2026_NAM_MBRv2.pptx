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379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NAM MBR · Thomas R Lindsey · 05.04.2026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0424160" y="65379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SUPERMETRICS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645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A0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BUSINESS 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1031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NAM MBR</a:t>
            </a:r>
            <a:endParaRPr lang="en-US" sz="70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B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R Lindsey  ·  05.04.2026  ·  Supermetrics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297680"/>
            <a:ext cx="8686800" cy="502920"/>
          </a:xfrm>
          <a:prstGeom prst="roundRect">
            <a:avLst>
              <a:gd name="adj" fmla="val 49091"/>
            </a:avLst>
          </a:prstGeom>
          <a:solidFill>
            <a:srgbClr val="4A2520"/>
          </a:solidFill>
          <a:ln w="12700">
            <a:solidFill>
              <a:srgbClr val="E170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43159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Worst revenue month in some time  ·  37% to quota  ·  pipe gen at 103%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Overview — Results I Planned to Achieve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325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GOALS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5669280" cy="137160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645920"/>
            <a:ext cx="73152" cy="1371600"/>
          </a:xfrm>
          <a:prstGeom prst="rect">
            <a:avLst/>
          </a:prstGeom>
          <a:solidFill>
            <a:srgbClr val="E170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5564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FC (start of month)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0574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1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$12,988 / $46,750 = 28%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94360" y="26060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at start was already short of quota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5669280" cy="137160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645920"/>
            <a:ext cx="73152" cy="1371600"/>
          </a:xfrm>
          <a:prstGeom prst="rect">
            <a:avLst/>
          </a:prstGeom>
          <a:solidFill>
            <a:srgbClr val="E170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75564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REVENUE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46520" y="20574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1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$17,213 / $46,750 = 37%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46520" y="26060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revenue month in some time. Wins all sub-$5.5k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32461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GOALS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566160"/>
            <a:ext cx="5669280" cy="137160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566160"/>
            <a:ext cx="73152" cy="1371600"/>
          </a:xfrm>
          <a:prstGeom prst="rect">
            <a:avLst/>
          </a:prstGeom>
          <a:solidFill>
            <a:srgbClr val="00B8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67588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PIPELINE GOAL (start of month)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397764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$187,000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94360" y="45262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monthly quota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3566160"/>
            <a:ext cx="5669280" cy="137160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3566160"/>
            <a:ext cx="73152" cy="1371600"/>
          </a:xfrm>
          <a:prstGeom prst="rect">
            <a:avLst/>
          </a:prstGeom>
          <a:solidFill>
            <a:srgbClr val="00B8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367588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PIPELINE CREATED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46520" y="397764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$193,100 / 103%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446520" y="45262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deals · first month over goal in 2026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5166360"/>
            <a:ext cx="11475720" cy="1188720"/>
          </a:xfrm>
          <a:prstGeom prst="roundRect">
            <a:avLst>
              <a:gd name="adj" fmla="val 7692"/>
            </a:avLst>
          </a:prstGeom>
          <a:solidFill>
            <a:srgbClr val="3A2520"/>
          </a:solidFill>
          <a:ln w="12700">
            <a:solidFill>
              <a:srgbClr val="E170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5257800"/>
            <a:ext cx="11109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1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headline: </a:t>
            </a:r>
            <a:pPr indent="0" marL="0">
              <a:buNone/>
            </a:pPr>
            <a:r>
              <a:rPr lang="en-US" sz="13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gen worked. Conversion didn't. April delivered the most pipeline of the year and the worst revenue of the year in the same month — that gap is the story of this MBR, and MEDDICC is how we close it.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Monthly Plan — What I Committed vs What I Executed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5669280" cy="365760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 (COMMITTED)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53035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TOFU TOFU TOFU — PARTIAL
</a:t>
            </a:r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333 contacts enrolled vs 400 target (83%) — 153 in HubSpot cadence + ~180 enrolled offline · 23 deals created (103% pipe goal)
</a:t>
            </a:r>
            <a:pPr indent="0" marL="0">
              <a:buNone/>
            </a:pPr>
            <a:r>
              <a:rPr lang="en-US" sz="1200" b="1" dirty="0">
                <a:solidFill>
                  <a:srgbClr val="E1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MEDDICC / MAPs — FAIL
</a:t>
            </a:r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Docs were not built for $15k+ deals by 04/10. No MAPs in flight.
</a:t>
            </a:r>
            <a:pPr indent="0" marL="0">
              <a:buNone/>
            </a:pPr>
            <a:r>
              <a:rPr lang="en-US" sz="1000" i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Effective immediately: MAPs non-negotiable on every deal $15k+ — automation already in place.
</a:t>
            </a:r>
            <a:pPr indent="0" marL="0">
              <a:buNone/>
            </a:pPr>
            <a:r>
              <a:rPr lang="en-US" sz="1200" b="1" dirty="0">
                <a:solidFill>
                  <a:srgbClr val="E1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Disqualification — FAIL
</a:t>
            </a:r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4 fast-fails sub-30d (Speed Sport, Oversight, Fusable, Chefman). MNP died at 425 days.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280160"/>
            <a:ext cx="5669280" cy="365760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4173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&amp; ACTIVITIES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1737360"/>
            <a:ext cx="53035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100 contacts/wk (50 Exp / 50 OB)
</a:t>
            </a:r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~83 enrolled/wk avg (incl. offline) — close to target; pipe gen beat goal
</a:t>
            </a:r>
            <a:pPr indent="0" marL="0">
              <a:buNone/>
            </a:pPr>
            <a:r>
              <a:rPr lang="en-US" sz="12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SUPER Framework / Deal Doc
</a:t>
            </a:r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Bump threshold to $8k+ deals (down from $5k) to save time — automation already covers this today
</a:t>
            </a:r>
            <a:pPr indent="0" marL="0">
              <a:buNone/>
            </a:pPr>
            <a:r>
              <a:rPr lang="en-US" sz="12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Daily structure / discipline
</a:t>
            </a:r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21 Call Prep blocks · 16 Cadence Actions · 14 Opp Check-ins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5074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THEME — NAVIGATING UP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5394960"/>
            <a:ext cx="11521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Tracer ($100k) — multi-threaded successfully · qualification moving · now considered Qualified
</a:t>
            </a:r>
            <a:pPr indent="0" marL="0">
              <a:buNone/>
            </a:pPr>
            <a:r>
              <a:rPr lang="en-US" sz="1100" b="1" dirty="0">
                <a:solidFill>
                  <a:srgbClr val="E1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Multi-threading with value — did NOT happen on Uniphore ($40k loss)
</a:t>
            </a:r>
            <a:pPr indent="0" marL="0">
              <a:buNone/>
            </a:pPr>
            <a:r>
              <a:rPr lang="en-US" sz="1100" b="1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Making the ask (EB, cell, exec sponsor) — still inconsistent. Single-threaded on too many $10k+ deals.
</a:t>
            </a:r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Hard next steps + make the ask — every meeting must end with a confirmed next step on calendar AND the explicit ask (EB / cell / exec sponsor / signature path)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Review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3703320" cy="411480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80160"/>
            <a:ext cx="54864" cy="4114800"/>
          </a:xfrm>
          <a:prstGeom prst="rect">
            <a:avLst/>
          </a:prstGeom>
          <a:solidFill>
            <a:srgbClr val="00B8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173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DID WELL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3429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Pipe gen at 103% — 23 deals, $193k
</a:t>
            </a:r>
            <a:pPr indent="0" marL="0">
              <a:buNone/>
            </a:pPr>
            <a:r>
              <a:rPr lang="en-US" sz="105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Mid-market mix improving — ACV creeping up. </a:t>
            </a:r>
            <a:pPr indent="0" marL="0">
              <a:buNone/>
            </a:pPr>
            <a:r>
              <a:rPr lang="en-US" sz="105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deals at $10k+ credit (DTCC, StayTuned, Revibe, Upwork, AMN, DS18, BlueDoor) — meaningful step up from prior months.
</a:t>
            </a:r>
            <a:pPr indent="0" marL="0">
              <a:buNone/>
            </a:pPr>
            <a:r>
              <a:rPr lang="en-US" sz="105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MCP/AI positioning landed (Paxos closed in 3 days; Upwork, Dale Howard, IA all MCP plays)
</a:t>
            </a:r>
            <a:pPr indent="0" marL="0">
              <a:buNone/>
            </a:pPr>
            <a:r>
              <a:rPr lang="en-US" sz="105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Daily structure held — Call Prep, Cadence, Opp Check-ins every business day
</a:t>
            </a:r>
            <a:pPr indent="0" marL="0">
              <a:buNone/>
            </a:pPr>
            <a:r>
              <a:rPr lang="en-US" sz="105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Account-mgmt saves: Hawaiian backfill same-day, BBC de-escalation, Spectrum CSM handoff, PRH renewal recovery
</a:t>
            </a:r>
            <a:pPr indent="0" marL="0">
              <a:buNone/>
            </a:pPr>
            <a:r>
              <a:rPr lang="en-US" sz="105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Calligo partner kickoff was a strong session — 5 co-built campaign plays in flight (next slide)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51960" y="1280160"/>
            <a:ext cx="3703320" cy="411480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51960" y="1280160"/>
            <a:ext cx="54864" cy="4114800"/>
          </a:xfrm>
          <a:prstGeom prst="rect">
            <a:avLst/>
          </a:prstGeom>
          <a:solidFill>
            <a:srgbClr val="E170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14173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1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 NEED TO IMPROVE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34840" y="1828800"/>
            <a:ext cx="3429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1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Uniphore $40k — no EB conversation booked before pricing → lost. </a:t>
            </a:r>
            <a:pPr indent="0" marL="0">
              <a:buNone/>
            </a:pPr>
            <a:r>
              <a:rPr lang="en-US" sz="105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MEDDICC headline lesson. Will not repeat.
</a:t>
            </a:r>
            <a:pPr indent="0" marL="0">
              <a:buNone/>
            </a:pPr>
            <a:r>
              <a:rPr lang="en-US" sz="105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Disqualification — 4 sub-30d fast-fails entered pipe before fit confirmed
</a:t>
            </a:r>
            <a:pPr indent="0" marL="0">
              <a:buNone/>
            </a:pPr>
            <a:r>
              <a:rPr lang="en-US" sz="105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Large-deal stalling — 11 Qualified deals worth $74k didn't progress
</a:t>
            </a:r>
            <a:pPr indent="0" marL="0">
              <a:buNone/>
            </a:pPr>
            <a:r>
              <a:rPr lang="en-US" sz="105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Email-to-call ratio 3.5:1 — too email-heavy on $10k+ deals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38160" y="1280160"/>
            <a:ext cx="3703320" cy="411480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1280160"/>
            <a:ext cx="54864" cy="4114800"/>
          </a:xfrm>
          <a:prstGeom prst="rect">
            <a:avLst/>
          </a:prstGeom>
          <a:solidFill>
            <a:srgbClr val="6C5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41732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DEAL LEARNINGS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21040" y="1828800"/>
            <a:ext cx="3429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Uniphore $40k autopsy: </a:t>
            </a:r>
            <a:pPr indent="0" marL="0">
              <a:buNone/>
            </a:pPr>
            <a:r>
              <a:rPr lang="en-US" sz="105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 discovery + no EB + 69-day cycle = the headline miss. Bringing 1-pager to 1:1.
</a:t>
            </a:r>
            <a:pPr indent="0" marL="0">
              <a:buNone/>
            </a:pPr>
            <a:r>
              <a:rPr lang="en-US" sz="105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carryover graveyard cost $85k </a:t>
            </a:r>
            <a:pPr indent="0" marL="0">
              <a:buNone/>
            </a:pPr>
            <a:r>
              <a:rPr lang="en-US" sz="105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Apr 1 alone (Downstream, Equitable, Poco Bero, Tellus, IRIS). No more month-end dispositioning.
</a:t>
            </a:r>
            <a:pPr indent="0" marL="0">
              <a:buNone/>
            </a:pPr>
            <a:r>
              <a:rPr lang="en-US" sz="105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win pattern is repeatable: </a:t>
            </a:r>
            <a:pPr indent="0" marL="0">
              <a:buNone/>
            </a:pPr>
            <a:r>
              <a:rPr lang="en-US" sz="105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customer + clear use case + AI positioning = sub-30-day close.
</a:t>
            </a:r>
            <a:pPr indent="0" marL="0">
              <a:buNone/>
            </a:pPr>
            <a:r>
              <a:rPr lang="en-US" sz="105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Calligo partnership unlocked </a:t>
            </a:r>
            <a:pPr indent="0" marL="0">
              <a:buNone/>
            </a:pPr>
            <a:r>
              <a:rPr lang="en-US" sz="105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strong kickoff w/ 5 campaign plays. Honest read: low confidence in Nick Mishko (slow, not a deal-driver) — I'll need to drive the motion.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4b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Calligo Partnership — Kickoff Output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kickoff session · 5 co-built campaign plays. Partnership is the lever to move OB% from 9% toward 25%+ in May/June.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3703320" cy="219456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554480"/>
            <a:ext cx="45720" cy="2194560"/>
          </a:xfrm>
          <a:prstGeom prst="rect">
            <a:avLst/>
          </a:prstGeom>
          <a:solidFill>
            <a:srgbClr val="6C5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459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AI ROADMAP CAMPAIGN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34747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0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customers focused on AI readiness + automation.
</a:t>
            </a:r>
            <a:pPr indent="0" marL="0">
              <a:buNone/>
            </a:pPr>
            <a:r>
              <a:rPr lang="en-US" sz="900" b="1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Offer:
</a:t>
            </a:r>
            <a:pPr indent="0" marL="0">
              <a:buNone/>
            </a:pPr>
            <a:r>
              <a:rPr lang="en-US" sz="9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Half-day AI roadmap session
• Identify practical AI use cases
• Prioritize where marketing data supports automation
• Connect SM pipelines to Calligo's automation work
</a:t>
            </a:r>
            <a:pPr indent="0" marL="0">
              <a:buNone/>
            </a:pPr>
            <a:r>
              <a:rPr lang="en-US" sz="900" i="1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already have access to the data. The next question is what workflows can be automated on top of it."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51960" y="1554480"/>
            <a:ext cx="3703320" cy="219456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51960" y="1554480"/>
            <a:ext cx="45720" cy="2194560"/>
          </a:xfrm>
          <a:prstGeom prst="rect">
            <a:avLst/>
          </a:prstGeom>
          <a:solidFill>
            <a:srgbClr val="74B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16459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4B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SNOWFLAKE EXPANSION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0" y="1965960"/>
            <a:ext cx="34747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0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 customers using Snowflake or considering a warehouse.
</a:t>
            </a:r>
            <a:pPr indent="0" marL="0">
              <a:buNone/>
            </a:pPr>
            <a:r>
              <a:rPr lang="en-US" sz="900" b="1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Offer:
</a:t>
            </a:r>
            <a:pPr indent="0" marL="0">
              <a:buNone/>
            </a:pPr>
            <a:r>
              <a:rPr lang="en-US" sz="9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 current SM setup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Identify warehouse / data modeling gaps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Calligo builds the staging / modeling layer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Expand SM usage into the DWH motion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38160" y="1554480"/>
            <a:ext cx="3703320" cy="219456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1554480"/>
            <a:ext cx="45720" cy="2194560"/>
          </a:xfrm>
          <a:prstGeom prst="rect">
            <a:avLst/>
          </a:prstGeom>
          <a:solidFill>
            <a:srgbClr val="00B8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16459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SPORTS &amp; ENTERTAINMENT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75320" y="1965960"/>
            <a:ext cx="34747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buNone/>
            </a:pPr>
            <a:r>
              <a:rPr lang="en-US" sz="10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MLS teams · national sports orgs · ticketing · venue operators · entertainment groups.
</a:t>
            </a:r>
            <a:pPr indent="0" marL="0">
              <a:buNone/>
            </a:pPr>
            <a:r>
              <a:rPr lang="en-US" sz="900" i="1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"Supermetrics centralizes marketing and performance data. Calligo helps structure it into a warehouse and build reporting, AI, and automation layers on top."
</a:t>
            </a:r>
            <a:pPr indent="0" marL="0">
              <a:buNone/>
            </a:pPr>
            <a:r>
              <a:rPr lang="en-US" sz="9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current opportunities as proof points.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931920"/>
            <a:ext cx="3703320" cy="219456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931920"/>
            <a:ext cx="45720" cy="2194560"/>
          </a:xfrm>
          <a:prstGeom prst="rect">
            <a:avLst/>
          </a:prstGeom>
          <a:solidFill>
            <a:srgbClr val="FDCB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023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CUSTOMER RE-ENGAGEMENT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4343400"/>
            <a:ext cx="34747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customers with:
</a:t>
            </a:r>
            <a:pPr indent="0" marL="0">
              <a:buNone/>
            </a:pPr>
            <a:r>
              <a:rPr lang="en-US" sz="9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 usage
• Stalled expansion
• Known reporting complexity
• Past lost opportunities
• Unclear warehouse strategy
• Heavy manual reporting workflows
</a:t>
            </a:r>
            <a:pPr indent="0" marL="0">
              <a:buNone/>
            </a:pPr>
            <a:r>
              <a:rPr lang="en-US" sz="9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Calligo as the reason to restart the conversation.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51960" y="3931920"/>
            <a:ext cx="3703320" cy="219456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51960" y="3931920"/>
            <a:ext cx="45720" cy="2194560"/>
          </a:xfrm>
          <a:prstGeom prst="rect">
            <a:avLst/>
          </a:prstGeom>
          <a:solidFill>
            <a:srgbClr val="6C5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0" y="4023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LINKEDIN AWARENESS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89120" y="4343400"/>
            <a:ext cx="34747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co-branded LI campaign — post themes:
</a:t>
            </a:r>
            <a:pPr indent="0" marL="0">
              <a:buNone/>
            </a:pPr>
            <a:r>
              <a:rPr lang="en-US" sz="9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readiness for marketing teams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Moving beyond dashboards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Automating campaign decisions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Building a clean marketing data foundation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Supermetrics + Calligo customer use cases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138160" y="3931920"/>
            <a:ext cx="3703320" cy="219456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38160" y="3931920"/>
            <a:ext cx="45720" cy="2194560"/>
          </a:xfrm>
          <a:prstGeom prst="rect">
            <a:avLst/>
          </a:prstGeom>
          <a:solidFill>
            <a:srgbClr val="FDCB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75320" y="4023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HONEST READ ON THE COUNTERPART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75320" y="4343400"/>
            <a:ext cx="34747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confidence in Nick Mishko </a:t>
            </a:r>
            <a:pPr indent="0" marL="0">
              <a:buNone/>
            </a:pPr>
            <a:r>
              <a:rPr lang="en-US" sz="10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Calligo — dry, slow, not a go-getter, doesn't think outside the box to get deals done.
</a:t>
            </a:r>
            <a:pPr indent="0" marL="0">
              <a:buNone/>
            </a:pPr>
            <a:r>
              <a:rPr lang="en-US" sz="900" b="1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what: </a:t>
            </a:r>
            <a:pPr indent="0" marL="0">
              <a:buNone/>
            </a:pPr>
            <a:r>
              <a:rPr lang="en-US" sz="9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plays are good and worth executing. But I'll need to drive the motion — set timelines, push meetings, own follow-ups. Don't sit on partner-led pace.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Pipeline Gen Recap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11475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417320"/>
                <a:gridCol w="18288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Pipe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Inbound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$95,000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$7,917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Outbound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$80,100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$8,900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$193,100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$8,396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3749040"/>
            <a:ext cx="11475720" cy="457200"/>
          </a:xfrm>
          <a:prstGeom prst="rect">
            <a:avLst/>
          </a:prstGeom>
          <a:solidFill>
            <a:srgbClr val="0D3D2E"/>
          </a:solidFill>
          <a:ln w="6350">
            <a:solidFill>
              <a:srgbClr val="00B89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37947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Goal: </a:t>
            </a:r>
            <a:pPr indent="0" marL="0">
              <a:buNone/>
            </a:pPr>
            <a:r>
              <a:rPr lang="en-US" sz="13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$187,000  </a:t>
            </a:r>
            <a:pPr indent="0" marL="0">
              <a:buNone/>
            </a:pPr>
            <a:r>
              <a:rPr lang="en-US" sz="13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103%</a:t>
            </a:r>
            <a:pPr indent="0" marL="0">
              <a:buNone/>
            </a:pPr>
            <a:r>
              <a:rPr lang="en-US" sz="13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first month over goal in 2026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65760" y="4663440"/>
            <a:ext cx="11475720" cy="1463040"/>
          </a:xfrm>
          <a:prstGeom prst="roundRect">
            <a:avLst>
              <a:gd name="adj" fmla="val 6250"/>
            </a:avLst>
          </a:prstGeom>
          <a:solidFill>
            <a:srgbClr val="3D2E0D"/>
          </a:solidFill>
          <a:ln w="12700">
            <a:solidFill>
              <a:srgbClr val="FDCB6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4754880"/>
            <a:ext cx="11155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what: </a:t>
            </a:r>
            <a:pPr indent="0" marL="0">
              <a:buNone/>
            </a:pPr>
            <a:r>
              <a:rPr lang="en-US" sz="13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machine is working — but mix is heavily Inbound + Expansion (~91%). </a:t>
            </a:r>
            <a:pPr indent="0" marL="0">
              <a:buNone/>
            </a:pPr>
            <a:r>
              <a:rPr lang="en-US" sz="13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contributed just ~9%</a:t>
            </a:r>
            <a:pPr indent="0" marL="0">
              <a:buNone/>
            </a:pPr>
            <a:r>
              <a:rPr lang="en-US" sz="13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May daily TOFU discipline (slides 9–11) is where Outbound % needs to climb.
</a:t>
            </a:r>
            <a:pPr indent="0" marL="0">
              <a:buNone/>
            </a:pPr>
            <a:r>
              <a:rPr lang="en-US" sz="1100" i="1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source split is approximate pending HubSpot validation.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2026 Pipeline Trend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11475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2286000"/>
                <a:gridCol w="2286000"/>
                <a:gridCol w="1645920"/>
                <a:gridCol w="1600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to Goal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January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$80,572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$160,824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170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$8,952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February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$145,292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$160,824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DCB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$8,072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$155,853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$176,000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DCB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$9,741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$193,100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$187,000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$8,396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D2E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4572000"/>
            <a:ext cx="11475720" cy="1463040"/>
          </a:xfrm>
          <a:prstGeom prst="roundRect">
            <a:avLst>
              <a:gd name="adj" fmla="val 6250"/>
            </a:avLst>
          </a:prstGeom>
          <a:solidFill>
            <a:srgbClr val="222632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4709160"/>
            <a:ext cx="11155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Trend: </a:t>
            </a:r>
            <a:pPr indent="0" marL="0">
              <a:buNone/>
            </a:pPr>
            <a:r>
              <a:rPr lang="en-US" sz="14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→ 90% → 89% → </a:t>
            </a:r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103%</a:t>
            </a:r>
            <a:pPr indent="0" marL="0">
              <a:buNone/>
            </a:pPr>
            <a:r>
              <a:rPr lang="en-US" sz="14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Pipeline gen is on a clean upward arc. The arc is real — what's missing is the conversion arc behind it.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Closed Deal Execution — The Real Story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743200" cy="118872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21945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won / 21 closed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743200" cy="118872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WON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29000" y="16459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$17.2k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429000" y="21945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sub-$5.5k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2743200" cy="118872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LOST (Y1 ACV)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55080" y="16459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1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$177k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355080" y="21945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deals · 10× the wins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44000" y="1280160"/>
            <a:ext cx="2743200" cy="118872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81160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CLOSED ACTIVITY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281160" y="16459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1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−$160k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281160" y="21945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 minus lost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2697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STORIES INSIDE THE LOSSES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017520"/>
          <a:ext cx="114757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657600"/>
                <a:gridCol w="1371600"/>
                <a:gridCol w="38862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Lost ACV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 what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carryover cleanup (Apr 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Downstream (390d), Equitable (112d), Poco Bero, Tellus, IRIS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170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$85,200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 have died in March. Inflated forecast, masked stalls.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Mid-cycle big-deal loss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Uniphore ($40k, 69d), Comcast (137d), MNP (425d)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170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Uniphore is the coachable miss. MEDDICC red flag: no EB.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disqualification failures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 Sport (11d), Oversight (11d), Fusable (24d), Chefman (26d)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170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$21,900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Got into pipe before fit confirmed. MEDDICC card at Day 1 prevents this.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365760" y="5669280"/>
            <a:ext cx="11475720" cy="777240"/>
          </a:xfrm>
          <a:prstGeom prst="roundRect">
            <a:avLst>
              <a:gd name="adj" fmla="val 11765"/>
            </a:avLst>
          </a:prstGeom>
          <a:solidFill>
            <a:srgbClr val="3D2E0D"/>
          </a:solidFill>
          <a:ln w="12700">
            <a:solidFill>
              <a:srgbClr val="FDCB6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8640" y="573328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wins were all small + fast (Paxos 3d, DQ 29d, Cousin Labs 28d). </a:t>
            </a:r>
            <a:pPr indent="0" marL="0">
              <a:buNone/>
            </a:pPr>
            <a:r>
              <a:rPr lang="en-US" sz="12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$10k+ wins. Every $10k+ deal that closed in April closed lost. May focus: protect the $10k+ pipe with MEDDICC.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MITs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5669280" cy="457200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71600"/>
            <a:ext cx="73152" cy="4572000"/>
          </a:xfrm>
          <a:prstGeom prst="rect">
            <a:avLst/>
          </a:prstGeom>
          <a:solidFill>
            <a:srgbClr val="6C5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00200"/>
            <a:ext cx="731520" cy="731520"/>
          </a:xfrm>
          <a:prstGeom prst="ellipse">
            <a:avLst/>
          </a:prstGeom>
          <a:solidFill>
            <a:srgbClr val="6C5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27632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554480" y="16916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MEDDICC OPERATIONALIZED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5800" y="2560320"/>
            <a:ext cx="5166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Stage 2+ deals scored. Weakest dimension named per deal. Doc artifacts produced (scorecard, value narrative, MAP, exec summary). MAPs </a:t>
            </a:r>
            <a:pPr indent="0" marL="0">
              <a:buNone/>
            </a:pPr>
            <a:r>
              <a:rPr lang="en-US" sz="13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</a:t>
            </a:r>
            <a:pPr indent="0" marL="0">
              <a:buNone/>
            </a:pPr>
            <a:r>
              <a:rPr lang="en-US" sz="13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every $15k+ deal · SUPER framework on every $8k+ deal — both already automated.
</a:t>
            </a:r>
            <a:pPr indent="0" marL="0">
              <a:buNone/>
            </a:pPr>
            <a:r>
              <a:rPr lang="en-US" sz="1100" i="1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 MIT — April proved deal management is the gap. Disqualification-at-Day-14 lives inside this (MEDDICC card at Day 1 = the gate; 60-day rule = the floor).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5669280" cy="457200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371600"/>
            <a:ext cx="73152" cy="4572000"/>
          </a:xfrm>
          <a:prstGeom prst="rect">
            <a:avLst/>
          </a:prstGeom>
          <a:solidFill>
            <a:srgbClr val="74B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37960" y="1600200"/>
            <a:ext cx="731520" cy="731520"/>
          </a:xfrm>
          <a:prstGeom prst="ellipse">
            <a:avLst/>
          </a:prstGeom>
          <a:solidFill>
            <a:srgbClr val="74B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1627632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406640" y="16916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74B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TOFU AT THE ACTIVITY LEVEL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37960" y="2560320"/>
            <a:ext cx="5166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and measurable, not a vibe. Per-day enrollment, emails, dials, LinkedIn, net-new accounts, booked meetings — all tracked. See slides 9–11 for the math and the playbook.
</a:t>
            </a:r>
            <a:pPr indent="0" marL="0">
              <a:buNone/>
            </a:pPr>
            <a:r>
              <a:rPr lang="en-US" sz="1100" i="1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hit 103% pipe gen at ~83% of contact-enrollment target. May tightens both — but with realistic numbers, not aspirational ones.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Funnel Math — Top-Down Derivation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5669280" cy="411480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INPUTS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303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May quota: </a:t>
            </a:r>
            <a:pPr indent="0" marL="0">
              <a:buNone/>
            </a:pPr>
            <a:r>
              <a:rPr lang="en-US" sz="12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$46,750
</a:t>
            </a:r>
            <a:pPr indent="0" marL="0">
              <a:buNone/>
            </a:pPr>
            <a:r>
              <a:rPr lang="en-US" sz="12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4× pipeline goal: </a:t>
            </a:r>
            <a:pPr indent="0" marL="0">
              <a:buNone/>
            </a:pPr>
            <a:r>
              <a:rPr lang="en-US" sz="12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$187,000
</a:t>
            </a:r>
            <a:pPr indent="0" marL="0">
              <a:buNone/>
            </a:pPr>
            <a:r>
              <a:rPr lang="en-US" sz="12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Plan target: </a:t>
            </a:r>
            <a:pPr indent="0" marL="0">
              <a:buNone/>
            </a:pPr>
            <a:r>
              <a:rPr lang="en-US" sz="12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$200,000</a:t>
            </a:r>
            <a:pPr indent="0" marL="0">
              <a:buNone/>
            </a:pPr>
            <a:r>
              <a:rPr lang="en-US" sz="12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(+7% overage for slippage)
</a:t>
            </a:r>
            <a:pPr indent="0" marL="0">
              <a:buNone/>
            </a:pPr>
            <a:r>
              <a:rPr lang="en-US" sz="12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ACV baseline: closed-won avg last 6 months ≈ </a:t>
            </a:r>
            <a:pPr indent="0" marL="0">
              <a:buNone/>
            </a:pPr>
            <a:r>
              <a:rPr lang="en-US" sz="12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$11,000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i="1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(better anchor than April's depressed $2.9k closed-won ACV)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BACKED-OUT TARGETS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70332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Deals needed: </a:t>
            </a:r>
            <a:pPr indent="0" marL="0">
              <a:buNone/>
            </a:pPr>
            <a:r>
              <a:rPr lang="en-US" sz="12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</a:t>
            </a:r>
            <a:pPr indent="0" marL="0">
              <a:buNone/>
            </a:pPr>
            <a:r>
              <a:rPr lang="en-US" sz="12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($200k ÷ $11k ACV)
</a:t>
            </a:r>
            <a:pPr indent="0" marL="0">
              <a:buNone/>
            </a:pPr>
            <a:r>
              <a:rPr lang="en-US" sz="12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Booked meetings: </a:t>
            </a:r>
            <a:pPr indent="0" marL="0">
              <a:buNone/>
            </a:pPr>
            <a:r>
              <a:rPr lang="en-US" sz="12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</a:t>
            </a:r>
            <a:pPr indent="0" marL="0">
              <a:buNone/>
            </a:pPr>
            <a:r>
              <a:rPr lang="en-US" sz="12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(~33% mtg → deal · slightly below April's 72)
</a:t>
            </a:r>
            <a:pPr indent="0" marL="0">
              <a:buNone/>
            </a:pPr>
            <a:r>
              <a:rPr lang="en-US" sz="12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Contacts enrolled: </a:t>
            </a:r>
            <a:pPr indent="0" marL="0">
              <a:buNone/>
            </a:pPr>
            <a:r>
              <a:rPr lang="en-US" sz="12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~330</a:t>
            </a:r>
            <a:pPr indent="0" marL="0">
              <a:buNone/>
            </a:pPr>
            <a:r>
              <a:rPr lang="en-US" sz="12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(matches April's true 333 incl. offline)
</a:t>
            </a:r>
            <a:pPr indent="0" marL="0">
              <a:buNone/>
            </a:pPr>
            <a:r>
              <a:rPr lang="en-US" sz="12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Account base: </a:t>
            </a:r>
            <a:pPr indent="0" marL="0">
              <a:buNone/>
            </a:pPr>
            <a:r>
              <a:rPr lang="en-US" sz="12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 net-new</a:t>
            </a:r>
            <a:pPr indent="0" marL="0">
              <a:buNone/>
            </a:pPr>
            <a:r>
              <a:rPr lang="en-US" sz="12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(lift OB% from 9% toward 25%)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280160"/>
            <a:ext cx="5669280" cy="411480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3716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BASELINE → MAY TARGET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691640"/>
          <a:ext cx="53035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22960"/>
                <a:gridCol w="822960"/>
                <a:gridCol w="1280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Contacts enrolled (incl. offline)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Calls logged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Emails sent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Meetings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DCB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deals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DCB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fewer · larger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 generated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$193k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400800" y="466344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over aspirational. 25 deals + 80 mtgs was a hustle in April — not repeatable as the plan. Shift focus: fewer, larger, mid-market deals at $11k+ ACV.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65760" y="5577840"/>
            <a:ext cx="11475720" cy="777240"/>
          </a:xfrm>
          <a:prstGeom prst="roundRect">
            <a:avLst>
              <a:gd name="adj" fmla="val 11765"/>
            </a:avLst>
          </a:prstGeom>
          <a:solidFill>
            <a:srgbClr val="222632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565099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shift: </a:t>
            </a:r>
            <a:pPr indent="0" marL="0">
              <a:buNone/>
            </a:pPr>
            <a:r>
              <a:rPr lang="en-US" sz="12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proved volume is doable. May proves quality is doable. Same pipe goal, fewer deals, higher ACV — and MEDDICC discipline behind every $10k+ deal so they actually close.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Daily Activity Targets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1152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working days in May (21 minus 3 PTO). Same monthly targets, consolidated into days actually worked. If the daily numbers hit, the monthly goal is mathematical.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45920"/>
          <a:ext cx="114757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1280160"/>
                <a:gridCol w="1463040"/>
                <a:gridCol w="46177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(avg)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(18d)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contacts enrolled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~18/day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 OB + ~9 Exp · email-verified before enroll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Emails sent (cadence steps)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~56/day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Cadence queue worked 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Calls / dials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~17/day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conversations on $10k+ deals — replace email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LinkedIn touches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~12/day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connect + 3 InMail + 3 comments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Net-new accounts worked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~4/day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 list-build + daily research/contact-pull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Booked meetings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~3-4/day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 from April's 72 — quality over volume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Net-new deals created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~4-5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~1/day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Fewer, larger · target $11k+ ACV mid-market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5440680"/>
            <a:ext cx="11475720" cy="914400"/>
          </a:xfrm>
          <a:prstGeom prst="roundRect">
            <a:avLst>
              <a:gd name="adj" fmla="val 10000"/>
            </a:avLst>
          </a:prstGeom>
          <a:solidFill>
            <a:srgbClr val="222632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553212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"no exceptions" lines: </a:t>
            </a:r>
            <a:pPr indent="0" marL="0">
              <a:buNone/>
            </a:pPr>
            <a:r>
              <a:rPr lang="en-US" sz="12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contacts enrolled/day + 4 net-new accounts/day on every working day. </a:t>
            </a:r>
            <a:pPr indent="0" marL="0">
              <a:buNone/>
            </a:pPr>
            <a:r>
              <a:rPr lang="en-US" sz="12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PTO days × the daily target = the catch-up that has to happen on either side of time off — not slipped to next month.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 the Activities — Calendar Blocks, Not Vibes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1475720" cy="822960"/>
          </a:xfrm>
          <a:prstGeom prst="roundRect">
            <a:avLst>
              <a:gd name="adj" fmla="val 11111"/>
            </a:avLst>
          </a:prstGeom>
          <a:solidFill>
            <a:srgbClr val="231D3D"/>
          </a:solidFill>
          <a:ln w="19050">
            <a:solidFill>
              <a:srgbClr val="6C5CE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Commit: </a:t>
            </a:r>
            <a:pPr indent="0" marL="0">
              <a:buNone/>
            </a:pPr>
            <a:r>
              <a:rPr lang="en-US" sz="13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my calendar in </a:t>
            </a:r>
            <a:pPr indent="0" marL="0">
              <a:buNone/>
            </a:pPr>
            <a:r>
              <a:rPr lang="en-US" sz="13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Reclaim</a:t>
            </a:r>
            <a:pPr indent="0" marL="0">
              <a:buNone/>
            </a:pPr>
            <a:r>
              <a:rPr lang="en-US" sz="13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 Mon 5/5 to enforce the daily output for each week. Every block below becomes a recurring Reclaim task w/ a habit window — auto-rescheduled around customer mtgs but never dropped. The calendar is the contract.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219456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buNone/>
            </a:pPr>
            <a:r>
              <a:rPr lang="en-US" sz="13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list build</a:t>
            </a:r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indent="0" marL="0">
              <a:buNone/>
            </a:pPr>
            <a:r>
              <a:rPr lang="en-US" sz="1100" b="1" dirty="0">
                <a:solidFill>
                  <a:srgbClr val="74B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Mondays · 60 min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20 net-new accounts: ZoomInfo + intent signals + 2025 closed-lost rework. Drop into HubSpot with vertical tag + assigned cadence.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761488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buNone/>
            </a:pPr>
            <a:r>
              <a:rPr lang="en-US" sz="13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enrollment</a:t>
            </a:r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indent="0" marL="0">
              <a:buNone/>
            </a:pPr>
            <a:r>
              <a:rPr lang="en-US" sz="1100" b="1" dirty="0">
                <a:solidFill>
                  <a:srgbClr val="74B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AM · 30 min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03580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 contacts/day · ~9 OB + ~9 Exp (consolidated for 18 working days). Verify email in Sales Nav before enroll (April BRP had &gt;50% bounce).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3328416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buNone/>
            </a:pPr>
            <a:r>
              <a:rPr lang="en-US" sz="13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actions</a:t>
            </a:r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indent="0" marL="0">
              <a:buNone/>
            </a:pPr>
            <a:r>
              <a:rPr lang="en-US" sz="1100" b="1" dirty="0">
                <a:solidFill>
                  <a:srgbClr val="74B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AM · 60 min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602736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the queue first thing: ~56 emails + ~17 dials due today.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3895344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buNone/>
            </a:pPr>
            <a:r>
              <a:rPr lang="en-US" sz="13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block</a:t>
            </a:r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indent="0" marL="0">
              <a:buNone/>
            </a:pPr>
            <a:r>
              <a:rPr lang="en-US" sz="1100" b="1" dirty="0">
                <a:solidFill>
                  <a:srgbClr val="74B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midday · 20 min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169664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connect requests + 3 InMails + 3 thoughtful comments on target-account posts. Tagged as activities in HubSpot.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462272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buNone/>
            </a:pPr>
            <a:r>
              <a:rPr lang="en-US" sz="13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Mid-funnel block</a:t>
            </a:r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indent="0" marL="0">
              <a:buNone/>
            </a:pPr>
            <a:r>
              <a:rPr lang="en-US" sz="1100" b="1" dirty="0">
                <a:solidFill>
                  <a:srgbClr val="74B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PM · 60 min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4736592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live touch on every Qualified / POV deal stagnant 7+ days. No more pure-email follow-ups on $10k+ deals.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502920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buNone/>
            </a:pPr>
            <a:r>
              <a:rPr lang="en-US" sz="13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hygiene block</a:t>
            </a:r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indent="0" marL="0">
              <a:buNone/>
            </a:pPr>
            <a:r>
              <a:rPr lang="en-US" sz="1100" b="1" dirty="0">
                <a:solidFill>
                  <a:srgbClr val="74B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· 90 min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5303520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 every deal with zero activity in 14 days. Update MEDDICC card on every Stage 2+ deal. No more April-1 cleanup days.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5596128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buNone/>
            </a:pPr>
            <a:r>
              <a:rPr lang="en-US" sz="13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Closed-lost rework</a:t>
            </a:r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</a:t>
            </a:r>
            <a:pPr indent="0" marL="0">
              <a:buNone/>
            </a:pPr>
            <a:r>
              <a:rPr lang="en-US" sz="1100" b="1" dirty="0">
                <a:solidFill>
                  <a:srgbClr val="74B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Tuesdays · 45 min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587044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accounts/wk from 2025 closed-lost · restart cadence with new angle (usually MCP/AI).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True Pipeline — $168k Open · 16 Deals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80160"/>
          <a:ext cx="11475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1280160"/>
                <a:gridCol w="2194560"/>
                <a:gridCol w="1280160"/>
                <a:gridCol w="260604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Close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Scotiabank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 | KCG | $40k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$39,000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DCB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 | $15k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C5C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Proof of 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MIC? | $25k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4B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StayTuned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DACT | $20k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4B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Revibe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 | $20k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C5C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Proof of 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MIC/MCP | $15k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C5C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Proof of 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Grafton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DWH | $15k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4B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$3,750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SNO | $12k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4B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$3,600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 | $12k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4B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 Builds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| $12k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DCB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$4,800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BlueDoor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 | $10k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C5C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Proof of 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 | $4k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4B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Furnished Finder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| $4k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$3,800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74B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Qualified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$2,850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(3)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Growth/MCP/Starter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deals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$208,800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D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D2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$89,400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D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Forecast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7315200" cy="502920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(HIGH-CONFIDENCE)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6949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Scotiabank — $32k weighted (82%) </a:t>
            </a:r>
            <a:pPr indent="0" marL="0">
              <a:buNone/>
            </a:pPr>
            <a:r>
              <a:rPr lang="en-US" sz="11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final security review · wider-team call 5/15 · pushing security/procurement call this week or next
</a:t>
            </a:r>
            <a:pPr indent="0" marL="0">
              <a:buNone/>
            </a:pPr>
            <a:r>
              <a:rPr lang="en-US" sz="12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Furnished Finder — $2.9k (75%) </a:t>
            </a:r>
            <a:pPr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MCP closeout
</a:t>
            </a:r>
            <a:pPr indent="0" marL="0">
              <a:buNone/>
            </a:pPr>
            <a:r>
              <a:rPr lang="en-US" sz="12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WELL — $1.4k (35%)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15468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DEALS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474720"/>
            <a:ext cx="6949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AMBSE ($15k) — main swing </a:t>
            </a:r>
            <a:pPr indent="0" marL="0">
              <a:buNone/>
            </a:pPr>
            <a:r>
              <a:rPr lang="en-US" sz="11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POV active · MEDDICC focus this week
</a:t>
            </a:r>
            <a:pPr indent="0" marL="0">
              <a:buNone/>
            </a:pPr>
            <a:r>
              <a:rPr lang="en-US" sz="12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Revibe ($20k) </a:t>
            </a:r>
            <a:pPr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POV active · pain re-discovery needed
</a:t>
            </a:r>
            <a:pPr indent="0" marL="0">
              <a:buNone/>
            </a:pPr>
            <a:r>
              <a:rPr lang="en-US" sz="12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StayTuned ($20k) </a:t>
            </a:r>
            <a:pPr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MEDDICC = build value narrative + ROI by 5/12
</a:t>
            </a:r>
            <a:pPr indent="0" marL="0">
              <a:buNone/>
            </a:pPr>
            <a:r>
              <a:rPr lang="en-US" sz="12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Upwork ($15k) </a:t>
            </a:r>
            <a:pPr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POV active · multi-thread / champion test
</a:t>
            </a:r>
            <a:pPr indent="0" marL="0">
              <a:buNone/>
            </a:pPr>
            <a:r>
              <a:rPr lang="en-US" sz="12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BlueDoor ($10k) </a:t>
            </a:r>
            <a:pPr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POV · pulling June go-live forward
</a:t>
            </a:r>
            <a:pPr indent="0" marL="0">
              <a:buNone/>
            </a:pPr>
            <a:r>
              <a:rPr lang="en-US" sz="12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Future Builds ($12k) </a:t>
            </a:r>
            <a:pPr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Proposal · wild card
</a:t>
            </a:r>
            <a:pPr indent="0" marL="0">
              <a:buNone/>
            </a:pPr>
            <a:r>
              <a:rPr lang="en-US" sz="12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AMN / Grafton / DS18 </a:t>
            </a:r>
            <a:pPr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$10k+ Qualified pool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863840" y="1280160"/>
            <a:ext cx="4023360" cy="502920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/ OPEN PIPELINE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46720" y="1691640"/>
          <a:ext cx="3657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4630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Quota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$46,750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Confirmed FC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$44,800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FC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$74,400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Pipeline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$168,000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Open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$74,400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to Quota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B8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−$27,700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Open Deals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Won (MTD)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Lost (MTD)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8046720" y="493776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 covered on paper from Day 1. Coverage doesn't equal cash — MEDDICC is what converts coverage into revenue.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13b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MEDDICC — How May Deals Get Driven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1475720" cy="822960"/>
          </a:xfrm>
          <a:prstGeom prst="roundRect">
            <a:avLst>
              <a:gd name="adj" fmla="val 11111"/>
            </a:avLst>
          </a:prstGeom>
          <a:solidFill>
            <a:srgbClr val="3D2E0D"/>
          </a:solidFill>
          <a:ln w="12700">
            <a:solidFill>
              <a:srgbClr val="FDCB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had pipe but couldn't close. </a:t>
            </a:r>
            <a:pPr indent="0" marL="0">
              <a:buNone/>
            </a:pPr>
            <a:r>
              <a:rPr lang="en-US" sz="1200" b="1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conversion lever is MEDDICC discipline</a:t>
            </a:r>
            <a:pPr indent="0" marL="0">
              <a:buNone/>
            </a:pPr>
            <a:r>
              <a:rPr lang="en-US" sz="12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operationalize it, don't just name-check it. This is the bridge between "pipeline at 103%" and "revenue at 37%": deal management was the missing piece, MEDDICC is how we fix it.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2194560"/>
            <a:ext cx="3703320" cy="411480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30428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8 DIMENSIONS — IN A SUPERMETRICS DEAL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2788920"/>
            <a:ext cx="3474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pPr indent="0" marL="0">
              <a:buNone/>
            </a:pPr>
            <a:r>
              <a:rPr lang="en-US" sz="10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etrics — quantified value: "saves 10 hrs/wk", "$X attributable revenue"
</a:t>
            </a:r>
            <a:pPr indent="0" marL="0">
              <a:buNone/>
            </a:pPr>
            <a:r>
              <a:rPr lang="en-US" sz="11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pPr indent="0" marL="0">
              <a:buNone/>
            </a:pPr>
            <a:r>
              <a:rPr lang="en-US" sz="10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conomic Buyer — confirmed name + budget authority + direct conversation booked
</a:t>
            </a:r>
            <a:pPr indent="0" marL="0">
              <a:buNone/>
            </a:pPr>
            <a:r>
              <a:rPr lang="en-US" sz="11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pPr indent="0" marL="0">
              <a:buNone/>
            </a:pPr>
            <a:r>
              <a:rPr lang="en-US" sz="10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ecision Criteria — written list of what they need to see to say yes
</a:t>
            </a:r>
            <a:pPr indent="0" marL="0">
              <a:buNone/>
            </a:pPr>
            <a:r>
              <a:rPr lang="en-US" sz="11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pPr indent="0" marL="0">
              <a:buNone/>
            </a:pPr>
            <a:r>
              <a:rPr lang="en-US" sz="10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ecision Process — steps from now → contract, with owners + dates
</a:t>
            </a:r>
            <a:pPr indent="0" marL="0">
              <a:buNone/>
            </a:pPr>
            <a:r>
              <a:rPr lang="en-US" sz="11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pPr indent="0" marL="0">
              <a:buNone/>
            </a:pPr>
            <a:r>
              <a:rPr lang="en-US" sz="10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 Process — procurement, legal, security, finance routes mapped
</a:t>
            </a:r>
            <a:pPr indent="0" marL="0">
              <a:buNone/>
            </a:pPr>
            <a:r>
              <a:rPr lang="en-US" sz="11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pPr indent="0" marL="0">
              <a:buNone/>
            </a:pPr>
            <a:r>
              <a:rPr lang="en-US" sz="10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dentify Pain — quantified, urgent, owned, top-3 priority
</a:t>
            </a:r>
            <a:pPr indent="0" marL="0">
              <a:buNone/>
            </a:pPr>
            <a:r>
              <a:rPr lang="en-US" sz="11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indent="0" marL="0">
              <a:buNone/>
            </a:pPr>
            <a:r>
              <a:rPr lang="en-US" sz="10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hampion — willing to sell internally, has capital, tested
</a:t>
            </a:r>
            <a:pPr indent="0" marL="0">
              <a:buNone/>
            </a:pPr>
            <a:r>
              <a:rPr lang="en-US" sz="11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indent="0" marL="0">
              <a:buNone/>
            </a:pPr>
            <a:r>
              <a:rPr lang="en-US" sz="10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ompetition — incumbent or alternatives named; "do nothing" included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51960" y="2194560"/>
            <a:ext cx="3703320" cy="411480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230428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WE PRODUCE PER DEAL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0" y="2788920"/>
            <a:ext cx="3474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MEDDICC Scorecard </a:t>
            </a:r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HubSpot deal field or Google Doc · R/Y/G on each of 8 dims · updated every 14 days
</a:t>
            </a:r>
            <a:pPr indent="0" marL="0">
              <a:buNone/>
            </a:pPr>
            <a:r>
              <a:rPr lang="en-US" sz="11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Narrative (1-page) </a:t>
            </a:r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pain → impact → metrics → recommendation. Coaching Goal 1.
</a:t>
            </a:r>
            <a:pPr indent="0" marL="0">
              <a:buNone/>
            </a:pPr>
            <a:r>
              <a:rPr lang="en-US" sz="11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Action Plan (MAP) </a:t>
            </a:r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shared with the buyer · dates + owners through close · re-introduce after March's MSP failure.
</a:t>
            </a:r>
            <a:pPr indent="0" marL="0">
              <a:buNone/>
            </a:pPr>
            <a:r>
              <a:rPr lang="en-US" sz="11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</a:t>
            </a:r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for $20k+ deals · the vehicle for the EB conversation · Coaching Goal 3.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2194560"/>
            <a:ext cx="3703320" cy="411480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230428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IN CONVERSATIONS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75320" y="2788920"/>
            <a:ext cx="3474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call: </a:t>
            </a:r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surface 1 quantified Metric + named Pain owner.
</a:t>
            </a:r>
            <a:pPr indent="0" marL="0">
              <a:buNone/>
            </a:pPr>
            <a:r>
              <a:rPr lang="en-US" sz="11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call: </a:t>
            </a:r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test ("would you bring this to your VP?") + Decision Criteria asked explicitly.
</a:t>
            </a:r>
            <a:pPr indent="0" marL="0">
              <a:buNone/>
            </a:pPr>
            <a:r>
              <a:rPr lang="en-US" sz="11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stage: </a:t>
            </a:r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shared as a working doc, not after the fact.
</a:t>
            </a:r>
            <a:pPr indent="0" marL="0">
              <a:buNone/>
            </a:pPr>
            <a:r>
              <a:rPr lang="en-US" sz="11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$10k+ deal: </a:t>
            </a:r>
            <a:pPr indent="0" marL="0">
              <a:buNone/>
            </a:pPr>
            <a:r>
              <a:rPr lang="en-US" sz="10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EB conversation booked before sending pricing. April lost Uniphore $40k partly because we never met the EB.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MEDDICC Scorecard Cadence — Operational Rhythm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1147572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81812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1 of any new deal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MEDDICC card · rate every dimension R/Y/G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14 days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card · flag any dimension that hasn't moved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1:1 with Andrew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Walk through 1 deal card dimension by dimension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progression gate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move to Proposal without ≥6/8 green-or-yellow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60-day rule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$10k+ deal at 60d with reds in EB / Pain / Decision Criteria → disqualify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5120640"/>
            <a:ext cx="11475720" cy="914400"/>
          </a:xfrm>
          <a:prstGeom prst="roundRect">
            <a:avLst>
              <a:gd name="adj" fmla="val 10000"/>
            </a:avLst>
          </a:prstGeom>
          <a:solidFill>
            <a:srgbClr val="231D3D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521208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by 5/31: </a:t>
            </a:r>
            <a:pPr indent="0" marL="0">
              <a:buNone/>
            </a:pPr>
            <a:r>
              <a:rPr lang="en-US" sz="13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Stage 2+ deals have a completed MEDDICC scorecard with no unaddressed reds. Matches the SMART metric in the 30-day coaching plan (Goal 2).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MEDDICC Targets — Per Active Deal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major open deal · which dimension is the red-to-fix · the May action.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54480"/>
          <a:ext cx="11475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914400"/>
                <a:gridCol w="3017520"/>
                <a:gridCol w="5074920"/>
                <a:gridCol w="8229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Weakest Dimension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B8F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3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Scotiabank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$39k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DCB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Process (procurement)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 signature path with King · working session Wk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170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Economic Buyer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 + book EB intro · build Exec Summary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StayTuned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DCB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narrative + ROI calc · share back to champion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Revibe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170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 (urgency)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Re-discover · what's the trigger? Without urgency, disqualify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DCB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Champion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champion w/ "bring to VP" ask · multi-thread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Grafton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DCB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Criteria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written list of must-haves this week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DCB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Criteria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written list · verify SNO 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170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Economic Buyer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 intro from current champion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BlueDoor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DCB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Quantify pain or disqualify by 60d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4E6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2E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5486400"/>
            <a:ext cx="11475720" cy="777240"/>
          </a:xfrm>
          <a:prstGeom prst="roundRect">
            <a:avLst>
              <a:gd name="adj" fmla="val 11765"/>
            </a:avLst>
          </a:prstGeom>
          <a:solidFill>
            <a:srgbClr val="3D2E0D"/>
          </a:solidFill>
          <a:ln w="12700">
            <a:solidFill>
              <a:srgbClr val="FDCB6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555955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</a:t>
            </a:r>
            <a:pPr indent="0" marL="0">
              <a:buNone/>
            </a:pPr>
            <a:r>
              <a:rPr lang="en-US" sz="12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9 are weak on EB or Decision Criteria — same gaps that killed Uniphore. Fix these in May or repeat April in May.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Deal Closing Plans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5669280" cy="219456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80160"/>
            <a:ext cx="54864" cy="2194560"/>
          </a:xfrm>
          <a:prstGeom prst="rect">
            <a:avLst/>
          </a:prstGeom>
          <a:solidFill>
            <a:srgbClr val="00B8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3716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Scotiabank — $39k · Proposal · 82%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389888"/>
            <a:ext cx="1234440" cy="274320"/>
          </a:xfrm>
          <a:prstGeom prst="roundRect">
            <a:avLst>
              <a:gd name="adj" fmla="val 13333"/>
            </a:avLst>
          </a:prstGeom>
          <a:solidFill>
            <a:srgbClr val="00B8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39903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30352" y="169164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Close: 05/29/2026 · timeline looks OK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30352" y="1965960"/>
            <a:ext cx="53949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Stage: </a:t>
            </a:r>
            <a:pPr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security review
</a:t>
            </a:r>
            <a:pPr indent="0" marL="0">
              <a:buNone/>
            </a:pPr>
            <a:r>
              <a:rPr lang="en-US" sz="11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Wider-team call locked for 5/15
</a:t>
            </a:r>
            <a:pPr indent="0" marL="0">
              <a:buNone/>
            </a:pPr>
            <a:r>
              <a:rPr lang="en-US" sz="11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 / next: </a:t>
            </a:r>
            <a:pPr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trying to set up direct call with security + procurement team for clear line to close by EOM
</a:t>
            </a:r>
            <a:pPr indent="0" marL="0">
              <a:buNone/>
            </a:pPr>
            <a:r>
              <a:rPr lang="en-US" sz="11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MEDDICC red: </a:t>
            </a:r>
            <a:pPr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Process — procurement path
</a:t>
            </a:r>
            <a:pPr indent="0" marL="0">
              <a:buNone/>
            </a:pPr>
            <a:r>
              <a:rPr lang="en-US" sz="11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action: </a:t>
            </a:r>
            <a:pPr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the security/procurement working session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1280160"/>
            <a:ext cx="5669280" cy="219456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280160"/>
            <a:ext cx="54864" cy="2194560"/>
          </a:xfrm>
          <a:prstGeom prst="rect">
            <a:avLst/>
          </a:prstGeom>
          <a:solidFill>
            <a:srgbClr val="6C5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13716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AMBSE — $15k · POV · 50%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469880" y="1389888"/>
            <a:ext cx="1234440" cy="274320"/>
          </a:xfrm>
          <a:prstGeom prst="roundRect">
            <a:avLst>
              <a:gd name="adj" fmla="val 13333"/>
            </a:avLst>
          </a:prstGeom>
          <a:solidFill>
            <a:srgbClr val="6C5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69880" y="139903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SWING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336792" y="169164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Close: 05/29/2026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336792" y="1965960"/>
            <a:ext cx="53949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Stage: </a:t>
            </a:r>
            <a:pPr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Value active
</a:t>
            </a:r>
            <a:pPr indent="0" marL="0">
              <a:buNone/>
            </a:pPr>
            <a:r>
              <a:rPr lang="en-US" sz="11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MEDDICC red: </a:t>
            </a:r>
            <a:pPr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 / Decision Criteria — confirm both this week
</a:t>
            </a:r>
            <a:pPr indent="0" marL="0">
              <a:buNone/>
            </a:pPr>
            <a:r>
              <a:rPr lang="en-US" sz="11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action: </a:t>
            </a:r>
            <a:pPr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POV success criteria → proposal · book EB intro · MAP shared by 5/12
</a:t>
            </a:r>
            <a:pPr indent="0" marL="0">
              <a:buNone/>
            </a:pPr>
            <a:r>
              <a:rPr lang="en-US" sz="11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</a:t>
            </a:r>
            <a:pPr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5/9 POV checkpoint · 5/13 EB conversation · 5/16 proposal · 5/22 agreement · 5/29 close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611880"/>
            <a:ext cx="5669280" cy="219456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611880"/>
            <a:ext cx="54864" cy="2194560"/>
          </a:xfrm>
          <a:prstGeom prst="rect">
            <a:avLst/>
          </a:prstGeom>
          <a:solidFill>
            <a:srgbClr val="FDCB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37033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BlueDoor — $10k · POV · 45%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3721608"/>
            <a:ext cx="1234440" cy="274320"/>
          </a:xfrm>
          <a:prstGeom prst="roundRect">
            <a:avLst>
              <a:gd name="adj" fmla="val 13333"/>
            </a:avLst>
          </a:prstGeom>
          <a:solidFill>
            <a:srgbClr val="FDCB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373075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/ PULL-FORWARD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30352" y="402336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Buyer's natural close: June · Pull-forward target: 05/30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30352" y="4297680"/>
            <a:ext cx="53949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Stage: </a:t>
            </a:r>
            <a:pPr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 active · looking to move forward in June
</a:t>
            </a:r>
            <a:pPr indent="0" marL="0">
              <a:buNone/>
            </a:pPr>
            <a:r>
              <a:rPr lang="en-US" sz="11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</a:t>
            </a:r>
            <a:pPr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contract signature into May for May credit + still hit June go-live
</a:t>
            </a:r>
            <a:pPr indent="0" marL="0">
              <a:buNone/>
            </a:pPr>
            <a:r>
              <a:rPr lang="en-US" sz="11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MEDDICC red: </a:t>
            </a:r>
            <a:pPr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(urgency to act in May)
</a:t>
            </a:r>
            <a:pPr indent="0" marL="0">
              <a:buNone/>
            </a:pPr>
            <a:r>
              <a:rPr lang="en-US" sz="11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action: </a:t>
            </a:r>
            <a:pPr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ask — "any reason we can't paper this in May to lock the go-live and EOM incentive?"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72200" y="3611880"/>
            <a:ext cx="5669280" cy="219456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2200" y="3611880"/>
            <a:ext cx="54864" cy="2194560"/>
          </a:xfrm>
          <a:prstGeom prst="rect">
            <a:avLst/>
          </a:prstGeom>
          <a:solidFill>
            <a:srgbClr val="74B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36792" y="370332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4B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Builds — $12k · Proposal · 40%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469880" y="3721608"/>
            <a:ext cx="1234440" cy="274320"/>
          </a:xfrm>
          <a:prstGeom prst="roundRect">
            <a:avLst>
              <a:gd name="adj" fmla="val 13333"/>
            </a:avLst>
          </a:prstGeom>
          <a:solidFill>
            <a:srgbClr val="74B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469880" y="373075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 CARD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336792" y="402336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Close: 05/29/2026 (stretch)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36792" y="4297680"/>
            <a:ext cx="53949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Stage: </a:t>
            </a:r>
            <a:pPr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· API motion
</a:t>
            </a:r>
            <a:pPr indent="0" marL="0">
              <a:buNone/>
            </a:pPr>
            <a:r>
              <a:rPr lang="en-US" sz="11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MEDDICC red: </a:t>
            </a:r>
            <a:pPr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Process — verify signer + paper path
</a:t>
            </a:r>
            <a:pPr indent="0" marL="0">
              <a:buNone/>
            </a:pPr>
            <a:r>
              <a:rPr lang="en-US" sz="11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action: </a:t>
            </a:r>
            <a:pPr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signer + paper path this week · push for signature in May
</a:t>
            </a:r>
            <a:pPr indent="0" marL="0">
              <a:buNone/>
            </a:pPr>
            <a:r>
              <a:rPr lang="en-US" sz="11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wild card: </a:t>
            </a:r>
            <a:pPr indent="0" marL="0">
              <a:buNone/>
            </a:pPr>
            <a:r>
              <a:rPr lang="en-US" sz="11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close in May if paper moves fast; otherwise slips to June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5852160"/>
            <a:ext cx="11475720" cy="548640"/>
          </a:xfrm>
          <a:prstGeom prst="roundRect">
            <a:avLst>
              <a:gd name="adj" fmla="val 13333"/>
            </a:avLst>
          </a:prstGeom>
          <a:solidFill>
            <a:srgbClr val="0D3D2E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589788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math: </a:t>
            </a:r>
            <a:pPr indent="0" marL="0">
              <a:buNone/>
            </a:pPr>
            <a:r>
              <a:rPr lang="en-US" sz="115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Scotiabank (forecast) + AMBSE (swing) + BlueDoor (pull-forward) + Future Builds (wild card) = up to </a:t>
            </a:r>
            <a:pPr indent="0" marL="0">
              <a:buNone/>
            </a:pPr>
            <a:r>
              <a:rPr lang="en-US" sz="115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$76k of close potential</a:t>
            </a:r>
            <a:pPr indent="0" marL="0">
              <a:buNone/>
            </a:pPr>
            <a:r>
              <a:rPr lang="en-US" sz="115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May vs $46.75k quota. Even half of these landing puts the month in the green.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Focus — Rebuilt Around MEDDICC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30-day coaching plan had 3 SMART goals: Value Narrative, MEDDPICC, Executive Summary. April's data confirms </a:t>
            </a:r>
            <a:pPr indent="0" marL="0">
              <a:buNone/>
            </a:pPr>
            <a:r>
              <a:rPr lang="en-US" sz="1200" b="1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MEDDICC is THE coaching focus</a:t>
            </a:r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pipe gen is fine, deal management isn't.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5669280" cy="182880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691640"/>
            <a:ext cx="54864" cy="1828800"/>
          </a:xfrm>
          <a:prstGeom prst="rect">
            <a:avLst/>
          </a:prstGeom>
          <a:solidFill>
            <a:srgbClr val="6C5CE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783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116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MEDDICC Scorecard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30352" y="2468880"/>
            <a:ext cx="5394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Stage 2+ deals scored by 5/31
</a:t>
            </a:r>
            <a:pPr indent="0" marL="0">
              <a:buNone/>
            </a:pPr>
            <a:r>
              <a:rPr lang="en-US" sz="110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deal card brought to every weekly 1:1 (Andrew challenges yellows + reds)
</a:t>
            </a:r>
            <a:pPr indent="0" marL="0">
              <a:buNone/>
            </a:pPr>
            <a:r>
              <a:rPr lang="en-US" sz="110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R/Y/G updated every 14 days, on every Stage 2+ deal
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1691640"/>
            <a:ext cx="5669280" cy="182880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691640"/>
            <a:ext cx="54864" cy="1828800"/>
          </a:xfrm>
          <a:prstGeom prst="rect">
            <a:avLst/>
          </a:prstGeom>
          <a:solidFill>
            <a:srgbClr val="74B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36792" y="17830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4B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336792" y="20116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4B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Narrative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336792" y="2468880"/>
            <a:ext cx="5394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4B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$10k+ deal has a 1-page narrative before Proposal stage
</a:t>
            </a:r>
            <a:pPr indent="0" marL="0">
              <a:buNone/>
            </a:pPr>
            <a:r>
              <a:rPr lang="en-US" sz="1100" dirty="0">
                <a:solidFill>
                  <a:srgbClr val="74B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Metric + named Pain owner = required
</a:t>
            </a:r>
            <a:pPr indent="0" marL="0">
              <a:buNone/>
            </a:pPr>
            <a:r>
              <a:rPr lang="en-US" sz="1100" dirty="0">
                <a:solidFill>
                  <a:srgbClr val="74B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forward Coaching Goal 1 from 30-day plan
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5669280" cy="182880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657600"/>
            <a:ext cx="54864" cy="1828800"/>
          </a:xfrm>
          <a:prstGeom prst="rect">
            <a:avLst/>
          </a:prstGeom>
          <a:solidFill>
            <a:srgbClr val="00B8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749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0352" y="39776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Summaries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30352" y="4434840"/>
            <a:ext cx="5394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May deals: AMBSE, StayTuned, Revibe (and Scotiabank as needed)
</a:t>
            </a:r>
            <a:pPr indent="0" marL="0">
              <a:buNone/>
            </a:pPr>
            <a:r>
              <a:rPr lang="en-US" sz="11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vehicle for the EB conversation
</a:t>
            </a:r>
            <a:pPr indent="0" marL="0">
              <a:buNone/>
            </a:pPr>
            <a:r>
              <a:rPr lang="en-US" sz="11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all 3 to 1:1 on 5/19
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3657600"/>
            <a:ext cx="5669280" cy="1828800"/>
          </a:xfrm>
          <a:prstGeom prst="rect">
            <a:avLst/>
          </a:prstGeom>
          <a:solidFill>
            <a:srgbClr val="222632"/>
          </a:solidFill>
          <a:ln w="6350">
            <a:solidFill>
              <a:srgbClr val="2A2E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2200" y="3657600"/>
            <a:ext cx="54864" cy="1828800"/>
          </a:xfrm>
          <a:prstGeom prst="rect">
            <a:avLst/>
          </a:prstGeom>
          <a:solidFill>
            <a:srgbClr val="FDCB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36792" y="37490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THEME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36792" y="39776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Disqualification at Day 14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336792" y="4434840"/>
            <a:ext cx="5394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April's lesson: Speed Sport, Oversight, Fusable, Chefman all entered pipe before fit confirmed
</a:t>
            </a:r>
            <a:pPr indent="0" marL="0">
              <a:buNone/>
            </a:pPr>
            <a:r>
              <a:rPr lang="en-US" sz="1100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MEDDICC scorecard at Day 1 = the gate
</a:t>
            </a:r>
            <a:pPr indent="0" marL="0">
              <a:buNone/>
            </a:pPr>
            <a:r>
              <a:rPr lang="en-US" sz="1100" dirty="0">
                <a:solidFill>
                  <a:srgbClr val="FDC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 rule on $10k+ deals = the floor
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5532120"/>
            <a:ext cx="11475720" cy="868680"/>
          </a:xfrm>
          <a:prstGeom prst="roundRect">
            <a:avLst>
              <a:gd name="adj" fmla="val 10526"/>
            </a:avLst>
          </a:prstGeom>
          <a:solidFill>
            <a:srgbClr val="231D3D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562356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Carried forward from March: </a:t>
            </a:r>
            <a:pPr indent="0" marL="0">
              <a:buNone/>
            </a:pPr>
            <a:r>
              <a:rPr lang="en-US" sz="1200" dirty="0">
                <a:solidFill>
                  <a:srgbClr val="E4E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Discovery, Value Selling, Enterprise Motions — but reframed as MEDDICC mechanics. Discovery = surfacing M+I+C. Enterprise Motions = mapping P + Decision Process. Same skills, sharper container.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1:1 OPENING LINE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33272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"April had a split personality — pipe gen at </a:t>
            </a:r>
            <a:pPr indent="0" marL="0">
              <a:lnSpc>
                <a:spcPts val="3000"/>
              </a:lnSpc>
              <a:buNone/>
            </a:pPr>
            <a:r>
              <a:rPr lang="en-US" sz="17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103% on 23 deals ($193k)</a:t>
            </a:r>
            <a:pPr indent="0" marL="0">
              <a:lnSpc>
                <a:spcPts val="3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but revenue at </a:t>
            </a:r>
            <a:pPr indent="0" marL="0">
              <a:lnSpc>
                <a:spcPts val="3000"/>
              </a:lnSpc>
              <a:buNone/>
            </a:pPr>
            <a:r>
              <a:rPr lang="en-US" sz="17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 / $17.2k</a:t>
            </a:r>
            <a:pPr indent="0" marL="0">
              <a:lnSpc>
                <a:spcPts val="3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against quota. The TOFU machine works; the conversion machine broke. Uniphore $40k is the headline loss — autopsy in hand.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May plan is two things: 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activity targets</a:t>
            </a:r>
            <a:pPr indent="0" marL="0">
              <a:lnSpc>
                <a:spcPts val="3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consolidated into 18 working days (18 contacts, ~56 emails, 17 dials, 12 LinkedIn, 3-4 meetings booked per working day), and </a:t>
            </a:r>
            <a:pPr indent="0" marL="0">
              <a:lnSpc>
                <a:spcPts val="3000"/>
              </a:lnSpc>
              <a:buNone/>
            </a:pPr>
            <a:r>
              <a:rPr lang="en-US" sz="17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MEDDICC operationalized</a:t>
            </a:r>
            <a:pPr indent="0" marL="0">
              <a:lnSpc>
                <a:spcPts val="3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every Stage 2+ deal scored, weakest dimension named, doc artifacts produced.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starts </a:t>
            </a:r>
            <a:endParaRPr lang="en-US" sz="1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700" b="1" i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over-covered on quota</a:t>
            </a:r>
            <a:pPr indent="0" marL="0">
              <a:lnSpc>
                <a:spcPts val="3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the job is converting the weighted pipe to closed."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April 2026 NAM MBR — Thomas R Lindsey</dc:title>
  <dc:subject>PptxGenJS Presentation</dc:subject>
  <dc:creator>Thomas R Lindsey</dc:creator>
  <cp:lastModifiedBy>Thomas R Lindsey</cp:lastModifiedBy>
  <cp:revision>1</cp:revision>
  <dcterms:created xsi:type="dcterms:W3CDTF">2026-05-06T16:54:17Z</dcterms:created>
  <dcterms:modified xsi:type="dcterms:W3CDTF">2026-05-06T16:54:17Z</dcterms:modified>
</cp:coreProperties>
</file>