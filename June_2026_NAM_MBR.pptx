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653796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NAM MBR · Thomas R Lindsey · 07.08.2026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10424160" y="653796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SUPERMETRICS</a:t>
            </a:r>
            <a:endParaRPr lang="en-US" sz="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6459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A0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BUSINESS REVIEW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210312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NAM MBR</a:t>
            </a:r>
            <a:endParaRPr lang="en-US" sz="70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0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Thomas R Lindsey  ·  07.08.2026  ·  Supermetrics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4297680"/>
            <a:ext cx="10607040" cy="502920"/>
          </a:xfrm>
          <a:prstGeom prst="roundRect">
            <a:avLst>
              <a:gd name="adj" fmla="val 49091"/>
            </a:avLst>
          </a:prstGeom>
          <a:solidFill>
            <a:srgbClr val="3D2E0D"/>
          </a:solidFill>
          <a:ln w="12700">
            <a:solidFill>
              <a:srgbClr val="FDCB6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4315968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Revenue held 87% — 2nd straight month  ·  pipe-gen recovered ~96%  ·  but 0 logged dials &amp; every $10k+ deal closed lost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Overview — Held the Line, Showed the Cracks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13258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GOALS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645920"/>
            <a:ext cx="5669280" cy="13716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645920"/>
            <a:ext cx="73152" cy="1371600"/>
          </a:xfrm>
          <a:prstGeom prst="rect">
            <a:avLst/>
          </a:prstGeom>
          <a:solidFill>
            <a:srgbClr val="00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755648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REVENUE (LAST MONTH)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94360" y="205740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$40,379 / 86%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94360" y="260604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revenue month in some time · Scotiabank $35k anchor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5669280" cy="13716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17920" y="1645920"/>
            <a:ext cx="73152" cy="1371600"/>
          </a:xfrm>
          <a:prstGeom prst="rect">
            <a:avLst/>
          </a:prstGeom>
          <a:solidFill>
            <a:srgbClr val="00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46520" y="1755648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ACTUAL REVENUE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46520" y="205740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$40,605 / 87%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446520" y="260604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straight strong month · but AMBSE $10k + 11 deals ≤$4.9k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65760" y="32461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GOALS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3566160"/>
            <a:ext cx="5669280" cy="13716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65760" y="3566160"/>
            <a:ext cx="73152" cy="1371600"/>
          </a:xfrm>
          <a:prstGeom prst="rect">
            <a:avLst/>
          </a:prstGeom>
          <a:solidFill>
            <a:srgbClr val="E170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3675888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PIPELINE CREATED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397764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~$101,000 / ~54%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594360" y="452628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deals · ~$5k avg ACV · calls collapsed to 39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217920" y="3566160"/>
            <a:ext cx="5669280" cy="13716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17920" y="3566160"/>
            <a:ext cx="73152" cy="1371600"/>
          </a:xfrm>
          <a:prstGeom prst="rect">
            <a:avLst/>
          </a:prstGeom>
          <a:solidFill>
            <a:srgbClr val="00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46520" y="3675888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PIPELINE CREATED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446520" y="397764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~$179,000 / ~96%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6446520" y="452628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deals · ~$7.8k avg · recovered — but inbound/expansion, 0 dials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65760" y="5166360"/>
            <a:ext cx="11475720" cy="1188720"/>
          </a:xfrm>
          <a:prstGeom prst="roundRect">
            <a:avLst>
              <a:gd name="adj" fmla="val 7692"/>
            </a:avLst>
          </a:prstGeom>
          <a:solidFill>
            <a:srgbClr val="3D2E0D"/>
          </a:solidFill>
          <a:ln w="12700">
            <a:solidFill>
              <a:srgbClr val="FDCB6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5257800"/>
            <a:ext cx="11109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headline: 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scorecard June is the "both engines on" month — revenue held 87% for a second straight month, pipe-gen recovered to ~96%. Underneath it is fragile: the number came from breadth + inbound + one carryover, </a:t>
            </a:r>
            <a:pPr indent="0" marL="0">
              <a:buNone/>
            </a:pPr>
            <a:r>
              <a:rPr lang="en-US" sz="130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$10k+ deal that closed, closed lost, and it was delivered on ZERO logged dials.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Plan — How It Played Out in June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280160"/>
            <a:ext cx="5669280" cy="36576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1732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MITs (FROM MAY PLAN)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53035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  MIT #1 Restart the dial engine — SUPERSEDED BY A BOOK CHANGE
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Mid-month the entire book shifted and the motion changed. Cold outbound / TOFU became non-critical — effort outside the Bronze base was futile as the role moved. Calls went 39 → 0, but that is a deprioritization, not a miss — these metrics don't really count this month.
</a:t>
            </a:r>
            <a:pPr indent="0" marL="0">
              <a:buNone/>
            </a:pPr>
            <a:r>
              <a:rPr lang="en-US" sz="14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MIT #2 MEDDICC on $10k+ — TOOK HOLD IN CALL PREP
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Call Prep blocks became genuinely useful for framing MEDDICC-based discovery questions — the questioning discipline that now carries into the account motion. Full breadth across every $10k+ deal didn't land, but the habit did.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0" y="1280160"/>
            <a:ext cx="5669280" cy="36576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41732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HAPPENED INSTEAD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0" y="1828800"/>
            <a:ext cx="53035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Revenue held 87% + pipe-gen recovered ~96%
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lines healthy — on breadth (11 wins ≤$4.9k), one carryover (AMBSE $10k), inbound demos and expansion. The expansion motion is the tell for what comes next.
</a:t>
            </a:r>
            <a:pPr indent="0" marL="0">
              <a:buNone/>
            </a:pPr>
            <a:r>
              <a:rPr lang="en-US" sz="14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  The motion changed underneath the plan
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book restructured mid-month — cold outbound deprioritized, focus shifting to the installed base. The May plan's dial + MEDDICC-breadth targets were overtaken by the KAM transition now underway.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65760" y="5166360"/>
            <a:ext cx="11475720" cy="1188720"/>
          </a:xfrm>
          <a:prstGeom prst="roundRect">
            <a:avLst>
              <a:gd name="adj" fmla="val 7692"/>
            </a:avLst>
          </a:prstGeom>
          <a:solidFill>
            <a:srgbClr val="222632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5257800"/>
            <a:ext cx="11109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one-sentence read: 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held revenue at 87% and recovered pipe-gen — and mid-month the book and role changed, retiring the outbound motion the May plan was built on. </a:t>
            </a:r>
            <a:pPr indent="0" marL="0">
              <a:buNone/>
            </a:pPr>
            <a:r>
              <a:rPr lang="en-US" sz="13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is a transition month: a new KAM book, not a dial sprint.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Review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280160"/>
            <a:ext cx="3703320" cy="498348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280160"/>
            <a:ext cx="54864" cy="4983480"/>
          </a:xfrm>
          <a:prstGeom prst="rect">
            <a:avLst/>
          </a:prstGeom>
          <a:solidFill>
            <a:srgbClr val="00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444752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DID WELL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342900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Two straight months near quota — 86% → 87%. 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April slump is firmly behind; back-to-back is durable.
</a:t>
            </a:r>
            <a:pPr indent="0" marL="0">
              <a:buNone/>
            </a:pPr>
            <a:r>
              <a:rPr lang="en-US" sz="12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Pipe-gen recovered to ~96% — ~$179k / 23 deals / ~$7.8k avg after May's ~54% scare
</a:t>
            </a:r>
            <a:pPr indent="0" marL="0">
              <a:buNone/>
            </a:pPr>
            <a:r>
              <a:rPr lang="en-US" sz="12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AMBSE finally closed ($10k) — the April "main swing" / May carryover is off the board
</a:t>
            </a:r>
            <a:pPr indent="0" marL="0">
              <a:buNone/>
            </a:pPr>
            <a:r>
              <a:rPr lang="en-US" sz="12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Expansion motion working — BRP (300-acct), Tracer, YMCA, Promega, CFG
</a:t>
            </a:r>
            <a:pPr indent="0" marL="0">
              <a:buNone/>
            </a:pPr>
            <a:r>
              <a:rPr lang="en-US" sz="12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Meetings held up (62, up from 54) — inbound demand real and being worked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251960" y="1280160"/>
            <a:ext cx="3703320" cy="498348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51960" y="1280160"/>
            <a:ext cx="54864" cy="4983480"/>
          </a:xfrm>
          <a:prstGeom prst="rect">
            <a:avLst/>
          </a:prstGeom>
          <a:solidFill>
            <a:srgbClr val="E170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34840" y="1444752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 NEED TO IMPROVE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434840" y="1965960"/>
            <a:ext cx="342900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  Outbound wound down with the book change — 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39 → 0 as cold TOFU was deprioritized. Not a miss, but the KAM motion still needs its own activity rhythm.
</a:t>
            </a:r>
            <a:pPr indent="0" marL="0">
              <a:buNone/>
            </a:pPr>
            <a:r>
              <a:rPr lang="en-US" sz="125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Big deals still leaked — 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$10k+ deals that reached a close were mostly overdue / dead ops that never got the full motion. Don't carry zombies into the new book.
</a:t>
            </a:r>
            <a:pPr indent="0" marL="0">
              <a:buNone/>
            </a:pPr>
            <a:r>
              <a:rPr lang="en-US" sz="125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Day-60 hygiene not enforced — 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stale deals inflated pipe, then died. Clean the book on day one of the KAM transition.
</a:t>
            </a:r>
            <a:pPr indent="0" marL="0">
              <a:buNone/>
            </a:pPr>
            <a:r>
              <a:rPr lang="en-US" sz="125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  Small-deal breadth won't scale — 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month of ≤$5k deals hit 87%, but the gold base is where the real ACV lives.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138160" y="1280160"/>
            <a:ext cx="3703320" cy="498348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38160" y="1280160"/>
            <a:ext cx="54864" cy="4983480"/>
          </a:xfrm>
          <a:prstGeom prst="rect">
            <a:avLst/>
          </a:prstGeom>
          <a:solidFill>
            <a:srgbClr val="6C5CE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21040" y="1444752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DEAL LEARNINGS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321040" y="1965960"/>
            <a:ext cx="342900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composition tells the story: 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of 12 wins were ≤$4.9k; the only $10k win (AMBSE) was already on the board.
</a:t>
            </a:r>
            <a:pPr indent="0" marL="0">
              <a:buNone/>
            </a:pPr>
            <a:r>
              <a:rPr lang="en-US" sz="125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 is the durable engine: 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BRP, Tracer, YMCA, Promega, CFG all grew inside the installed base — the exact motion the new KAM book is built to run.
</a:t>
            </a:r>
            <a:pPr indent="0" marL="0">
              <a:buNone/>
            </a:pPr>
            <a:r>
              <a:rPr lang="en-US" sz="125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MEDDICC questioning took hold: 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Prep sharpened discovery on live deals — a habit to carry into account planning.
</a:t>
            </a:r>
            <a:pPr indent="0" marL="0">
              <a:buNone/>
            </a:pPr>
            <a:r>
              <a:rPr lang="en-US" sz="125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$10k+ lesson still stands: 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deals convert only with the full EB / multi-thread motion (Scotiabank proof) — now aimed at the gold base.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Pipeline Gen Recap</a:t>
            </a:r>
            <a:endParaRPr lang="en-US" sz="2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71600"/>
          <a:ext cx="114757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1828800"/>
                <a:gridCol w="1463040"/>
                <a:gridCol w="507492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 (ERR)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ACV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Business (inbound)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~$95,000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~$7,300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Mostly Growth/MCP; Shubert $12k, TaxAct $10k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Cross-sell / Upsell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~$60,000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~$8,600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BRP DACT $25k, RLE $20k, WestGate $7.5k, YMCA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 DACT new-biz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~$24,000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~$8,000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Tadi $25k, MS Buildon $25k — early, prone to stall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~$179,000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~$7,800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365760" y="3520440"/>
            <a:ext cx="11475720" cy="457200"/>
          </a:xfrm>
          <a:prstGeom prst="rect">
            <a:avLst/>
          </a:prstGeom>
          <a:solidFill>
            <a:srgbClr val="143A2E"/>
          </a:solidFill>
          <a:ln w="6350">
            <a:solidFill>
              <a:srgbClr val="00B89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356616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Goal: 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$187,000  </a:t>
            </a:r>
            <a:pPr indent="0" marL="0">
              <a:buNone/>
            </a:pPr>
            <a:r>
              <a:rPr lang="en-US" sz="13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~96%</a:t>
            </a:r>
            <a:pPr indent="0" marL="0">
              <a:buNone/>
            </a:pPr>
            <a:r>
              <a:rPr lang="en-US" sz="13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recovered from April's 103% dip through May's ~54%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365760" y="4480560"/>
            <a:ext cx="11475720" cy="1554480"/>
          </a:xfrm>
          <a:prstGeom prst="roundRect">
            <a:avLst>
              <a:gd name="adj" fmla="val 5882"/>
            </a:avLst>
          </a:prstGeom>
          <a:solidFill>
            <a:srgbClr val="3D2E0D"/>
          </a:solidFill>
          <a:ln w="12700">
            <a:solidFill>
              <a:srgbClr val="FDCB6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48640" y="4572000"/>
            <a:ext cx="111556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what: 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~96% is genuinely good and avg ACV is back to ~$7.8k (May: ~$5k). But read where it came from — almost none is outbound-sourced (calls = 0). It's inbound new-business plus expansion (BRP, Tracer, RLE, WestGate, YMCA). Three of the biggest are $25k DACT deals (Tadi, MS Buildon, BRP) — early-stage and, on this account's history, exactly the profile that stalls at Qualification.
</a:t>
            </a:r>
            <a:pPr indent="0" marL="0">
              <a:buNone/>
            </a:pPr>
            <a:r>
              <a:rPr lang="en-US" sz="1100" i="1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recovery is real but not durable or self-generated — the inbound machine working, not the rep prospecting. If inbound softens, there is no outbound floor.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Pace &amp; the Pipe → Revenue Correlation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12801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GEN % TO GOAL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600200"/>
          <a:ext cx="55778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554480"/>
                <a:gridCol w="1645920"/>
              </a:tblGrid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Deals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Goal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January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E170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February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DCB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DCB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April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E170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~54%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~96%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309360" y="12801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% TO QUOTA — ALL MONTHS</a:t>
            </a:r>
            <a:endParaRPr lang="en-US" sz="12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600200"/>
          <a:ext cx="55778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011680"/>
                <a:gridCol w="1463040"/>
              </a:tblGrid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Quota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January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$52,590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131%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February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$43,667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109%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$58,465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April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$17,213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E170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$40,379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$40,605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 (Jan–Jun)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2E0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$252,919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2E0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DCB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96% pace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2E0D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365760" y="4114800"/>
            <a:ext cx="5669280" cy="224028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365760" y="4114800"/>
            <a:ext cx="54864" cy="2240280"/>
          </a:xfrm>
          <a:prstGeom prst="rect">
            <a:avLst/>
          </a:prstGeom>
          <a:solidFill>
            <a:srgbClr val="6C5CE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548640" y="420624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 → REVENUE: WHAT WE'RE ACTUALLY TRACKING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548640" y="4526280"/>
            <a:ext cx="5303520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is weak at every lag </a:t>
            </a:r>
            <a:pPr indent="0" marL="0">
              <a:buNone/>
            </a:pPr>
            <a:r>
              <a:rPr lang="en-US" sz="125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 = 0.01–0.28, 18 mo)</a:t>
            </a:r>
            <a:pPr indent="0" marL="0">
              <a:buNone/>
            </a:pPr>
            <a:r>
              <a:rPr lang="en-US" sz="12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pipeline is lumpy, no clean fixed lead time.
</a:t>
            </a:r>
            <a:pPr indent="0" marL="0">
              <a:buNone/>
            </a:pPr>
            <a:r>
              <a:rPr lang="en-US" sz="125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ratio: </a:t>
            </a:r>
            <a:pPr indent="0" marL="0">
              <a:buNone/>
            </a:pPr>
            <a:r>
              <a:rPr lang="en-US" sz="125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~29% of trailing-3-mo pipe</a:t>
            </a:r>
            <a:pPr indent="0" marL="0">
              <a:buNone/>
            </a:pPr>
            <a:r>
              <a:rPr lang="en-US" sz="12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converts to revenue.
</a:t>
            </a:r>
            <a:pPr indent="0" marL="0">
              <a:buNone/>
            </a:pPr>
            <a:r>
              <a:rPr lang="en-US" sz="125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what: 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pipe-gen % is a loose predictor — expansion + renewal timing (the KAM motion) moves revenue more than raw new-pipe volume.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217920" y="4114800"/>
            <a:ext cx="5669280" cy="224028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217920" y="4114800"/>
            <a:ext cx="54864" cy="2240280"/>
          </a:xfrm>
          <a:prstGeom prst="rect">
            <a:avLst/>
          </a:prstGeom>
          <a:solidFill>
            <a:srgbClr val="00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400800" y="420624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 ATTAINMENT — JUL → OCT</a:t>
            </a:r>
            <a:endParaRPr lang="en-US" sz="1200" dirty="0"/>
          </a:p>
        </p:txBody>
      </p:sp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4526280"/>
          <a:ext cx="53035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097280"/>
                <a:gridCol w="1371600"/>
                <a:gridCol w="1280160"/>
              </a:tblGrid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Quota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 Rev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$23.4k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$46.1k wtd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197%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August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$46.8k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~$40k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DCB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~86%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September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$46.8k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~$40k+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DCB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~86%+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October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$46.8k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~$40k+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DCB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~86%+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</a:tbl>
          </a:graphicData>
        </a:graphic>
      </p:graphicFrame>
      <p:sp>
        <p:nvSpPr>
          <p:cNvPr id="16" name="Text 11"/>
          <p:cNvSpPr/>
          <p:nvPr/>
        </p:nvSpPr>
        <p:spPr>
          <a:xfrm>
            <a:off x="6400800" y="5870448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 over-covered on the reduced quota. Aug–Oct pace ~85% at the current ~$43k/mo pipe × 29% yield — the KAM book's expansion + renewals must close the ~15% gap (Sep–Oct carry seasonal upside; both strong in 2025).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Closed Deal Execution — The Real Story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280160"/>
            <a:ext cx="2743200" cy="118872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371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(WON)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164592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$40.6k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219456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87% to quota · 12 deals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91840" y="1280160"/>
            <a:ext cx="2743200" cy="118872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29000" y="1371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WIN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29000" y="164592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3429000" y="219456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AMBSE · carryover, not new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1280160"/>
            <a:ext cx="2743200" cy="118872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55080" y="1371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LOST (Y1 ACV)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355080" y="164592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~$81k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355080" y="219456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deals · mostly stale/dead ops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144000" y="1280160"/>
            <a:ext cx="2743200" cy="118872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81160" y="1371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CLOSED ACTIVITY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281160" y="164592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−$40k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281160" y="219456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Won minus lost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65760" y="2697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LOSSES THAT MATTERED</a:t>
            </a:r>
            <a:endParaRPr lang="en-US" sz="12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017520"/>
          <a:ext cx="1147572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206240"/>
                <a:gridCol w="1280160"/>
                <a:gridCol w="3429000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Deals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Lost ACV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 what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Stale-deal deaths (300+ days)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Unilever Prestige ($40k, created 8/2025), AdRoll ($13k, created 6/2025)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E170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~$53,000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~10–12 mo cycles, no real next step. The Industry Dive death, repeated.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$10k+ that never got the motion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AMN ($12k, in the April pipe) — overdue / dead op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E170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~$12,000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MEDDICC breadth never reached it; no EB. A dead op, not a live-deal loss.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 / small cleanup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Charter One ($6k), Furnished Finder ($4k), Poppy ($2k), PSA ($2k), AHS ($2k)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E170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~$16,000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Long-cycle small deals dispositioned — the healthy part of the number.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</a:tbl>
          </a:graphicData>
        </a:graphic>
      </p:graphicFrame>
      <p:sp>
        <p:nvSpPr>
          <p:cNvPr id="22" name="Shape 19"/>
          <p:cNvSpPr/>
          <p:nvPr/>
        </p:nvSpPr>
        <p:spPr>
          <a:xfrm>
            <a:off x="365760" y="5532120"/>
            <a:ext cx="11475720" cy="822960"/>
          </a:xfrm>
          <a:prstGeom prst="roundRect">
            <a:avLst>
              <a:gd name="adj" fmla="val 11111"/>
            </a:avLst>
          </a:prstGeom>
          <a:solidFill>
            <a:srgbClr val="3A2520"/>
          </a:solidFill>
          <a:ln w="12700">
            <a:solidFill>
              <a:srgbClr val="E17055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48640" y="5596128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read: 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$10k+ that closed lost were mostly overdue / dead ops (Unilever, AdRoll, AMN) that never got the full motion — not live deals fumbled. (Celebrands excluded — ~$1k closed, split across two ops.) </a:t>
            </a:r>
            <a:pPr indent="0" marL="0">
              <a:buNone/>
            </a:pPr>
            <a:r>
              <a:rPr lang="en-US" sz="12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KAM job: give the gold base the Scotiabank-grade motion so the real ACV converts.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MIT — Get a Handle on the New KAM Book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234440"/>
            <a:ext cx="11475720" cy="1051560"/>
          </a:xfrm>
          <a:prstGeom prst="roundRect">
            <a:avLst>
              <a:gd name="adj" fmla="val 8696"/>
            </a:avLst>
          </a:prstGeom>
          <a:solidFill>
            <a:srgbClr val="231D3D"/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325880"/>
            <a:ext cx="11109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motion is changing. 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reverting from the all-bound AE motion (one AE owns inbound + outbound + expansion) back to the 2024 customer-growth model I led. I move from manager to 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Account Manager (KAM)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the brand side — owning a defined book of accounts, not chasing net-new cold.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2468880"/>
            <a:ext cx="11475720" cy="288036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2468880"/>
            <a:ext cx="73152" cy="2880360"/>
          </a:xfrm>
          <a:prstGeom prst="rect">
            <a:avLst/>
          </a:prstGeom>
          <a:solidFill>
            <a:srgbClr val="74B9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2697480"/>
            <a:ext cx="731520" cy="731520"/>
          </a:xfrm>
          <a:prstGeom prst="ellipse">
            <a:avLst/>
          </a:prstGeom>
          <a:solidFill>
            <a:srgbClr val="74B9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724912"/>
            <a:ext cx="731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1554480" y="27432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THE BOOK &amp; BUILD THE PATH TO QUOTA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85800" y="3429000"/>
            <a:ext cx="1088136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book: 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~75 Gold accounts + ~70 Scaled / Bronze = ~145 accounts. </a:t>
            </a:r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of July is understanding this book cold and finding where the opportunity is to make quota for the rest of the year.
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Map &amp; tier the Gold base — health, spend, whitespace, renewal timing
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Build account plans for the top Gold accounts (biggest ARR / nearest renewals first)
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Surface expansion + renewal opportunity — e.g. Hawaiian Airlines $20k MIC+DWH renewal
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Identify the 2–3 plays with the clearest path to revenue in H2
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No cold-call focus — the motion is retain, deepen, and expand the installed base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5532120"/>
            <a:ext cx="11475720" cy="822960"/>
          </a:xfrm>
          <a:prstGeom prst="roundRect">
            <a:avLst>
              <a:gd name="adj" fmla="val 11111"/>
            </a:avLst>
          </a:prstGeom>
          <a:solidFill>
            <a:srgbClr val="13392D"/>
          </a:solidFill>
          <a:ln w="12700">
            <a:solidFill>
              <a:srgbClr val="00B89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5596128"/>
            <a:ext cx="11109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only MIT this month. 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is a ramp: success is a clear, tiered book strategy and coverage of the Gold base — not an activity or dial count. Get the book right and H2 quota has a plan behind it.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9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Plan — KAM Book &amp; Path to Quota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280160"/>
            <a:ext cx="5669280" cy="41148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37160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BOOK &amp; THE MATH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737360"/>
            <a:ext cx="530352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July revenue quota: </a:t>
            </a:r>
            <a:pPr indent="0" marL="0">
              <a:buNone/>
            </a:pPr>
            <a:r>
              <a:rPr lang="en-US" sz="13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$23,400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(reduced; full $46,750 resumes Aug)
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The book: 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~145 accounts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75 Gold + 70 Scaled/Bronze
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Open July pipe: </a:t>
            </a:r>
            <a:pPr indent="0" marL="0">
              <a:buNone/>
            </a:pPr>
            <a:r>
              <a:rPr lang="en-US" sz="13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$106.9k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457% coverage · $46.1k weighted (197%)
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The July math is </a:t>
            </a:r>
            <a:pPr indent="0" marL="0">
              <a:buNone/>
            </a:pPr>
            <a:r>
              <a:rPr lang="en-US" sz="13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coverage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not cold-funnel throughput — cover the Gold base and surface the expansion/renewal that funds H2 quota.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370332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TO H2 QUOTA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4023360"/>
            <a:ext cx="530352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Retain the renewals in the book (e.g. Hawaiian Airlines $20k)
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Expand the installed base — June's expansion wins (BRP, Tracer, YMCA) are the template
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Convert the $106.9k open with MEDDICC discipline on every $10k+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17920" y="1280160"/>
            <a:ext cx="5669280" cy="41148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137160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ACTIVITY BASELINE (HubSpot / Command Center)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783080"/>
          <a:ext cx="53035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731520"/>
                <a:gridCol w="301752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Meetings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Healthy inbound + customer load (~2.8/day)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Emails logged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Down, still the primary written channel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contacts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Lighter — top-of-list enrollment slowed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Calls / dials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FDCB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Cold dials deprioritized — intentional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6400800" y="4160520"/>
            <a:ext cx="530352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read: 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ran on inbound demand + expansion — meetings healthy, cold outbound at zero by design. In the KAM motion that is the point: the KPI shifts from dials to account coverage, retention, and expansion pipeline.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365760" y="5577840"/>
            <a:ext cx="11475720" cy="777240"/>
          </a:xfrm>
          <a:prstGeom prst="roundRect">
            <a:avLst>
              <a:gd name="adj" fmla="val 11765"/>
            </a:avLst>
          </a:prstGeom>
          <a:solidFill>
            <a:srgbClr val="222632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5650992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shift: 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old top-down funnel math (quota → pipe → dials) retires with the AE motion. </a:t>
            </a:r>
            <a:pPr indent="0" marL="0">
              <a:buNone/>
            </a:pPr>
            <a:r>
              <a:rPr lang="en-US" sz="12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July's math is book coverage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75 Gold accounts mapped and planned, expansion/renewal surfaced, the $106.9k open converted.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10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KAM Activity Plan — Working the Book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1188720"/>
            <a:ext cx="11521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KAM motion replaces cold-outbound targets with book coverage. 22 working days in July (Jul 3 holiday). The measure this month is the Gold base mapped, planned, and touched — not dials.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645920"/>
          <a:ext cx="114757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371600"/>
                <a:gridCol w="1463040"/>
                <a:gridCol w="55321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KAM Activity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Weekly (avg)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Gold accounts reviewed &amp; tiered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74B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 the full Gold base at least once — health, spend, whitespace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Account plans built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74B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Gold accounts first (biggest ARR / nearest renewals)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 meetings / QBRs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74B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Retention + expansion conversations across the book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Expansion / renewal ops surfaced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74B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~2-3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Whitespace + renewal timing (e.g. Hawaiian Airlines $20k)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pipeline advanced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$106.9k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74B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MEDDICC discipline on every $10k+ open deal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Cold dials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74B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Deprioritized in the KAM motion — not a July KPI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5440680"/>
            <a:ext cx="11475720" cy="914400"/>
          </a:xfrm>
          <a:prstGeom prst="roundRect">
            <a:avLst>
              <a:gd name="adj" fmla="val 10000"/>
            </a:avLst>
          </a:prstGeom>
          <a:solidFill>
            <a:srgbClr val="13392D"/>
          </a:solidFill>
          <a:ln w="12700">
            <a:solidFill>
              <a:srgbClr val="00B89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48640" y="5532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month-end bar: 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Gold account touched and tiered, the top accounts with a written plan, and a named path to H2 quota. </a:t>
            </a:r>
            <a:pPr indent="0" marL="0">
              <a:buNone/>
            </a:pPr>
            <a:r>
              <a:rPr lang="en-US" sz="12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coverage is the metric — not calls.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I'll Work the Book — Weekly KAM Rhythm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11475720" cy="822960"/>
          </a:xfrm>
          <a:prstGeom prst="roundRect">
            <a:avLst>
              <a:gd name="adj" fmla="val 11111"/>
            </a:avLst>
          </a:prstGeom>
          <a:solidFill>
            <a:srgbClr val="231D3D"/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280160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rhythm shifts 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cold-dial cadence to a book-management operating system — a repeatable week for covering the Gold base, advancing renewals + expansion, and keeping the book clean. Same discipline the Reclaim blocks built, pointed at the installed base.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2194560"/>
            <a:ext cx="11521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 book review</a:t>
            </a:r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</a:t>
            </a:r>
            <a:pPr indent="0" marL="0">
              <a:buNone/>
            </a:pPr>
            <a:r>
              <a:rPr lang="en-US" sz="11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Mondays · 60 min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11247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Gold accounts by ARR, renewal timing, and whitespace; set the week's target accounts and the plays to run.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65760" y="2852928"/>
            <a:ext cx="11521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planning</a:t>
            </a:r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</a:t>
            </a:r>
            <a:pPr indent="0" marL="0">
              <a:buNone/>
            </a:pPr>
            <a:r>
              <a:rPr lang="en-US" sz="11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AM · 60 min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3127248"/>
            <a:ext cx="11247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/ update account plans for top Gold accounts — stakeholders, value realized, expansion paths.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65760" y="3511296"/>
            <a:ext cx="11521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conversations</a:t>
            </a:r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</a:t>
            </a:r>
            <a:pPr indent="0" marL="0">
              <a:buNone/>
            </a:pPr>
            <a:r>
              <a:rPr lang="en-US" sz="11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· 2–3 mtgs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3785616"/>
            <a:ext cx="11247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QBRs, check-ins, and expansion discovery across the book — retention + growth, not net-new cold.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65760" y="4169664"/>
            <a:ext cx="11521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advancement</a:t>
            </a:r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</a:t>
            </a:r>
            <a:pPr indent="0" marL="0">
              <a:buNone/>
            </a:pPr>
            <a:r>
              <a:rPr lang="en-US" sz="11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PM · 45 min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4443984"/>
            <a:ext cx="11247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MEDDICC on every $10k+ open op (RLE, Upwork, HA) — EB, next step, drive it forward.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65760" y="4828032"/>
            <a:ext cx="11521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Renewal watch</a:t>
            </a:r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</a:t>
            </a:r>
            <a:pPr indent="0" marL="0">
              <a:buNone/>
            </a:pPr>
            <a:r>
              <a:rPr lang="en-US" sz="11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· 30 min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" y="5102352"/>
            <a:ext cx="11247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upcoming renewals (e.g. Hawaiian Airlines $20k, Q3 2027) — no surprise churn, plan each early.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65760" y="5486400"/>
            <a:ext cx="11521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Friday hygiene + MEDDICC</a:t>
            </a:r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</a:t>
            </a:r>
            <a:pPr indent="0" marL="0">
              <a:buNone/>
            </a:pPr>
            <a:r>
              <a:rPr lang="en-US" sz="11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· 90 min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5760720"/>
            <a:ext cx="11247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Day-60 disqualification sweep; update MEDDICC cards on every open op; keep the book clean.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Forecast &amp; Pipeline — Command Center · Jul 8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234440"/>
            <a:ext cx="2743200" cy="96012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29844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QUOTA (REDUCED)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02920" y="1499616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$23.4k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02920" y="1956816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$46.75k resumes Aug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282696" y="1234440"/>
            <a:ext cx="2743200" cy="96012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19856" y="129844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FC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419856" y="1499616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$18.8k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419856" y="1956816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81% of quota · 4 committed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6199632" y="1234440"/>
            <a:ext cx="2743200" cy="96012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36792" y="129844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FC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336792" y="1499616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$46.1k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336792" y="1956816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197% of quota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9116568" y="1234440"/>
            <a:ext cx="2743200" cy="96012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53728" y="129844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PIPELINE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9253728" y="1499616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$106.9k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9253728" y="1956816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457% · 22 July-close</a:t>
            </a:r>
            <a:endParaRPr lang="en-US" sz="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331720"/>
          <a:ext cx="114757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468880"/>
                <a:gridCol w="1188720"/>
                <a:gridCol w="2331720"/>
                <a:gridCol w="1188720"/>
                <a:gridCol w="274320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Account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Opportunity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Close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Shopify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 Ads | $2k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$1,750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Committed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$1,600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Upwork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MIC/MCP | $15k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$11,500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Agreement · legal/DPA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$9,800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Shronk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Growth | $2k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$2,124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Committed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$1,600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Kraken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 | $3.5k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$3,468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DCB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Pending Sales Ops reopen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$2,400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Gemini Agent | $7.5k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$7,500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4B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Qualification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$4,900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BQ | $20k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C5CE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Proof of Value · main swing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 (~16)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Growth/MCP/Claude $2-5k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~$60,500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~$15,800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 July-close deals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$106,900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$46,100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</a:tr>
            </a:tbl>
          </a:graphicData>
        </a:graphic>
      </p:graphicFrame>
      <p:sp>
        <p:nvSpPr>
          <p:cNvPr id="21" name="Shape 18"/>
          <p:cNvSpPr/>
          <p:nvPr/>
        </p:nvSpPr>
        <p:spPr>
          <a:xfrm>
            <a:off x="365760" y="5257800"/>
            <a:ext cx="11475720" cy="457200"/>
          </a:xfrm>
          <a:prstGeom prst="rect">
            <a:avLst/>
          </a:prstGeom>
          <a:solidFill>
            <a:srgbClr val="3A2520"/>
          </a:solidFill>
          <a:ln w="6350">
            <a:solidFill>
              <a:srgbClr val="E17055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48640" y="530352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Swing / overdue (not in the $106.9k July-close): </a:t>
            </a:r>
            <a:pPr indent="0" marL="0">
              <a:buNone/>
            </a:pPr>
            <a:r>
              <a:rPr lang="en-US" sz="11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Soccer $40k (overdue 5/28), BlueDoor $10k (overdue 6/25), IA $5k (overdue 5/28) — re-date or disqualify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365760" y="5806440"/>
            <a:ext cx="11475720" cy="594360"/>
          </a:xfrm>
          <a:prstGeom prst="roundRect">
            <a:avLst>
              <a:gd name="adj" fmla="val 12308"/>
            </a:avLst>
          </a:prstGeom>
          <a:solidFill>
            <a:srgbClr val="143A2E"/>
          </a:solidFill>
          <a:ln w="12700">
            <a:solidFill>
              <a:srgbClr val="00B894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48640" y="5852160"/>
            <a:ext cx="11155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read: </a:t>
            </a:r>
            <a:pPr indent="0" marL="0">
              <a:buNone/>
            </a:pPr>
            <a:r>
              <a:rPr lang="en-US" sz="10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opens 197% weighted-covered with $18.8k already committed (81%) on the reduced $23.4k quota — coverage is not the risk. A no-anchor portfolio (largest weighted RLE $10k) converts on MEDDICC breadth; Upwork (85%, legal/DPA) is the strongest signal. Kraken pending Sales Ops; HubSpot|MCP moved to Aug.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/ Account Plan — Hawaiian Airlines (Gold)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1188720"/>
            <a:ext cx="11521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marquee Gold-account plan. The other open ops are smaller (Growth/MCP $2–5k) and run on the standard cadence — no standalone plan needed.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600200"/>
            <a:ext cx="3703320" cy="402336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600200"/>
            <a:ext cx="45720" cy="4023360"/>
          </a:xfrm>
          <a:prstGeom prst="rect">
            <a:avLst/>
          </a:prstGeom>
          <a:solidFill>
            <a:srgbClr val="FDCB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70992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SNAPSHOT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2057400"/>
            <a:ext cx="3474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Tier: </a:t>
            </a:r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· established, expanding customer
</a:t>
            </a:r>
            <a:pPr indent="0" marL="0">
              <a:buNone/>
            </a:pPr>
            <a:r>
              <a:rPr lang="en-US" sz="11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Products: </a:t>
            </a:r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 + DWH (managed ingestion + data warehouse)
</a:t>
            </a:r>
            <a:pPr indent="0" marL="0">
              <a:buNone/>
            </a:pPr>
            <a:r>
              <a:rPr lang="en-US" sz="11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Installed base: </a:t>
            </a:r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$40k SNO (2023) + $20k MIC+DWH (won 2025) — proven, renewing account
</a:t>
            </a:r>
            <a:pPr indent="0" marL="0">
              <a:buNone/>
            </a:pPr>
            <a:r>
              <a:rPr lang="en-US" sz="11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op: </a:t>
            </a:r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$20k MIC+DWH renewal · Q3 2027 · 40% · created 9/2025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251960" y="1600200"/>
            <a:ext cx="3703320" cy="402336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51960" y="1600200"/>
            <a:ext cx="45720" cy="4023360"/>
          </a:xfrm>
          <a:prstGeom prst="rect">
            <a:avLst/>
          </a:prstGeom>
          <a:solidFill>
            <a:srgbClr val="00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89120" y="170992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 — RETAIN + EXPAND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389120" y="2057400"/>
            <a:ext cx="3474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Retain: </a:t>
            </a:r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 the $20k Q3-2027 renewal early — map decision process + value realized before it hits the danger zone
</a:t>
            </a:r>
            <a:pPr indent="0" marL="0">
              <a:buNone/>
            </a:pPr>
            <a:r>
              <a:rPr lang="en-US" sz="11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Expand: </a:t>
            </a:r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DWH growth, added sources / seats — the June expansion template (BRP, Tracer) applied here
</a:t>
            </a:r>
            <a:pPr indent="0" marL="0">
              <a:buNone/>
            </a:pPr>
            <a:r>
              <a:rPr lang="en-US" sz="11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Multi-thread: </a:t>
            </a:r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 + technical / data-eng stakeholders, not one champion
</a:t>
            </a:r>
            <a:pPr indent="0" marL="0">
              <a:buNone/>
            </a:pPr>
            <a:r>
              <a:rPr lang="en-US" sz="11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QBR: </a:t>
            </a:r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review — quantify ingestion / warehouse ROI delivered to date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138160" y="1600200"/>
            <a:ext cx="3703320" cy="402336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138160" y="1600200"/>
            <a:ext cx="45720" cy="4023360"/>
          </a:xfrm>
          <a:prstGeom prst="rect">
            <a:avLst/>
          </a:prstGeom>
          <a:solidFill>
            <a:srgbClr val="6C5CE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75320" y="170992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MEDDICC + NEXT STEPS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275320" y="2057400"/>
            <a:ext cx="3474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confirm the economic buyer for the 2027 renewal
</a:t>
            </a:r>
            <a:pPr indent="0" marL="0">
              <a:buNone/>
            </a:pPr>
            <a:r>
              <a:rPr lang="en-US" sz="11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etrics — quantify data value delivered (usage, time saved)
</a:t>
            </a:r>
            <a:pPr indent="0" marL="0">
              <a:buNone/>
            </a:pPr>
            <a:r>
              <a:rPr lang="en-US" sz="11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ecision Process — map the renewal approval path
</a:t>
            </a:r>
            <a:pPr indent="0" marL="0">
              <a:buNone/>
            </a:pPr>
            <a:r>
              <a:rPr lang="en-US" sz="11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hampion — confirm + coach the internal advocate
</a:t>
            </a:r>
            <a:pPr indent="0" marL="0">
              <a:buNone/>
            </a:pPr>
            <a:r>
              <a:rPr lang="en-US" sz="11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steps: </a:t>
            </a:r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QBR (Jul) · account plan doc (Jul) · renewal strategy locked by Q1 2027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5760" y="5806440"/>
            <a:ext cx="11475720" cy="594360"/>
          </a:xfrm>
          <a:prstGeom prst="roundRect">
            <a:avLst>
              <a:gd name="adj" fmla="val 15385"/>
            </a:avLst>
          </a:prstGeom>
          <a:solidFill>
            <a:srgbClr val="13392D"/>
          </a:solidFill>
          <a:ln w="12700">
            <a:solidFill>
              <a:srgbClr val="00B89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5870448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KAM template: 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 the renewal, expand the base, multi-thread the account. Hawaiian is the model — the rest of the Gold book gets the same treatment through July.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13b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/ Leave-Behind — MEDDICC Proven on Scotiabank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11475720" cy="777240"/>
          </a:xfrm>
          <a:prstGeom prst="roundRect">
            <a:avLst>
              <a:gd name="adj" fmla="val 11765"/>
            </a:avLst>
          </a:prstGeom>
          <a:solidFill>
            <a:srgbClr val="143A2E"/>
          </a:solidFill>
          <a:ln w="12700">
            <a:solidFill>
              <a:srgbClr val="00B89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261872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Scotiabank proved MEDDICC converts flagship deals. June forgot it — 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$10k+ deal died stale, unqualified, or without an EB. The July job is breadth: run the exact Scotiabank motion on every $10k+ deal, not just whatever inbound sends.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2103120"/>
            <a:ext cx="3703320" cy="36576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2103120"/>
            <a:ext cx="45720" cy="3657600"/>
          </a:xfrm>
          <a:prstGeom prst="rect">
            <a:avLst/>
          </a:prstGeom>
          <a:solidFill>
            <a:srgbClr val="00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224028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WON SCOTIABANK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2651760"/>
            <a:ext cx="347472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pPr indent="0" marL="0">
              <a:buNone/>
            </a:pPr>
            <a:r>
              <a:rPr lang="en-US" sz="12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conomic Buyer — engaged + decision path live through signature
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multi-thread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engineering org, not just champion
</a:t>
            </a:r>
            <a:pPr indent="0" marL="0">
              <a:buNone/>
            </a:pPr>
            <a:r>
              <a:rPr lang="en-US" sz="13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pPr indent="0" marL="0">
              <a:buNone/>
            </a:pPr>
            <a:r>
              <a:rPr lang="en-US" sz="12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aper Process — security/DR docs early, confirmed received
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 brief</a:t>
            </a:r>
            <a:pPr indent="0" marL="0">
              <a:buNone/>
            </a:pPr>
            <a:r>
              <a:rPr lang="en-US" sz="12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before the technical call — objections anticipated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51960" y="2103120"/>
            <a:ext cx="3703320" cy="36576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51960" y="2103120"/>
            <a:ext cx="45720" cy="3657600"/>
          </a:xfrm>
          <a:prstGeom prst="rect">
            <a:avLst/>
          </a:prstGeom>
          <a:solidFill>
            <a:srgbClr val="E170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89120" y="224028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LOST JUNE'S $10k+ DEALS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389120" y="2651760"/>
            <a:ext cx="347472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No EB motion ran (AMN — sat live for months)
</a:t>
            </a:r>
            <a:pPr indent="0" marL="0">
              <a:buNone/>
            </a:pPr>
            <a:r>
              <a:rPr lang="en-US" sz="125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~10–12 month stale deaths, no next step (Unilever, AdRoll)
</a:t>
            </a:r>
            <a:pPr indent="0" marL="0">
              <a:buNone/>
            </a:pPr>
            <a:r>
              <a:rPr lang="en-US" sz="125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Died unqualified in ~10 days (Celebrands)
</a:t>
            </a:r>
            <a:pPr indent="0" marL="0">
              <a:buNone/>
            </a:pPr>
            <a:r>
              <a:rPr lang="en-US" sz="125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Day-60 disqualification rule not enforced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38160" y="2103120"/>
            <a:ext cx="3703320" cy="36576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138160" y="2103120"/>
            <a:ext cx="45720" cy="3657600"/>
          </a:xfrm>
          <a:prstGeom prst="rect">
            <a:avLst/>
          </a:prstGeom>
          <a:solidFill>
            <a:srgbClr val="74B9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75320" y="224028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MEDDICC OPERATING RHYTHM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75320" y="2651760"/>
            <a:ext cx="347472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Day 1: open MEDDICC card, rate R/Y/G
</a:t>
            </a:r>
            <a:pPr indent="0" marL="0">
              <a:buNone/>
            </a:pPr>
            <a:r>
              <a:rPr lang="en-US" sz="12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Every $10k+ deal: EB booked before pricing
</a:t>
            </a:r>
            <a:pPr indent="0" marL="0">
              <a:buNone/>
            </a:pPr>
            <a:r>
              <a:rPr lang="en-US" sz="12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Every technical call: written prep brief
</a:t>
            </a:r>
            <a:pPr indent="0" marL="0">
              <a:buNone/>
            </a:pPr>
            <a:r>
              <a:rPr lang="en-US" sz="12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Friday: disqualify anything 60d+ with no next step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Coaching Focus — July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280160"/>
            <a:ext cx="5669280" cy="237744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280160"/>
            <a:ext cx="73152" cy="2377440"/>
          </a:xfrm>
          <a:prstGeom prst="rect">
            <a:avLst/>
          </a:prstGeom>
          <a:solidFill>
            <a:srgbClr val="74B9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444752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— RAMP INTO THE KAM MOTION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1874520"/>
            <a:ext cx="530352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Learn the new book cold — 75 Gold + 70 Scaled/Bronze (~145 accounts)
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Build account plans for the top Gold accounts — ARR + renewal-timing first
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Name the path to full-year quota from the installed base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17920" y="1280160"/>
            <a:ext cx="5669280" cy="237744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17920" y="1280160"/>
            <a:ext cx="73152" cy="2377440"/>
          </a:xfrm>
          <a:prstGeom prst="rect">
            <a:avLst/>
          </a:prstGeom>
          <a:solidFill>
            <a:srgbClr val="6C5CE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1444752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 — RETAIN &amp; EXPAND THE BASE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0" y="1874520"/>
            <a:ext cx="530352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Renewals first — Hawaiian Airlines $20k (Q3 2027) and every dated renewal, planned early
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Expand the June-proven way — BRP, Tracer, YMCA are the template
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MEDDICC discipline on the open $10k+ ops (RLE, Upwork, HA)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65760" y="38862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 &amp; CARRY-FORWARD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65760" y="4206240"/>
            <a:ext cx="1152144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New theme — the motion change. </a:t>
            </a:r>
            <a:pPr indent="0" marL="0">
              <a:buNone/>
            </a:pPr>
            <a:r>
              <a:rPr lang="en-US" sz="13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all-bound AE model to KAM (the 2024 customer-growth motion). July is a ramp, not a sprint — the deliverable is a book strategy, not an activity count.
</a:t>
            </a:r>
            <a:pPr indent="0" marL="0">
              <a:buNone/>
            </a:pPr>
            <a:r>
              <a:rPr lang="en-US" sz="135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Carried forward: </a:t>
            </a:r>
            <a:pPr indent="0" marL="0">
              <a:buNone/>
            </a:pPr>
            <a:r>
              <a:rPr lang="en-US" sz="13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MEDDICC questioning habit from Call Prep, and day-60 hygiene to clean the book on entry (no inherited zombies).
</a:t>
            </a:r>
            <a:pPr indent="0" marL="0">
              <a:buNone/>
            </a:pPr>
            <a:r>
              <a:rPr lang="en-US" sz="135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The one-line goal: </a:t>
            </a:r>
            <a:pPr indent="0" marL="0">
              <a:buNone/>
            </a:pPr>
            <a:r>
              <a:rPr lang="en-US" sz="13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the book right — a tiered Gold-base strategy with a named path to H2 quota. Coverage, not dials.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June 2026 NAM MBR — Thomas R Lindsey</dc:title>
  <dc:subject>PptxGenJS Presentation</dc:subject>
  <dc:creator>Thomas R Lindsey</dc:creator>
  <cp:lastModifiedBy>Thomas R Lindsey</cp:lastModifiedBy>
  <cp:revision>1</cp:revision>
  <dcterms:created xsi:type="dcterms:W3CDTF">2026-07-08T02:40:29Z</dcterms:created>
  <dcterms:modified xsi:type="dcterms:W3CDTF">2026-07-08T02:40:29Z</dcterms:modified>
</cp:coreProperties>
</file>