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NAM MBR · Thomas R Lindsey · 07.08.2026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10424160" y="653796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SUPERMETRICS</a:t>
            </a:r>
            <a:endParaRPr lang="en-US" sz="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645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A0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BUSINESS REVIEW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210312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NAM MBR</a:t>
            </a:r>
            <a:endParaRPr lang="en-US" sz="70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R Lindsey  ·  07.08.2026  ·  Supermetrics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297680"/>
            <a:ext cx="10607040" cy="502920"/>
          </a:xfrm>
          <a:prstGeom prst="roundRect">
            <a:avLst>
              <a:gd name="adj" fmla="val 49091"/>
            </a:avLst>
          </a:prstGeom>
          <a:solidFill>
            <a:srgbClr val="3D2E0D"/>
          </a:solidFill>
          <a:ln w="12700">
            <a:solidFill>
              <a:srgbClr val="FDCB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431596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Revenue held 87% — 2nd straight month  ·  pipe-gen recovered ~96%  ·  but 0 logged dials &amp; every $10k+ deal closed lost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Overview — Held the Line, Showed the Cracks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325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GOALS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645920"/>
            <a:ext cx="5669280" cy="1371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645920"/>
            <a:ext cx="73152" cy="137160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75564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REVENUE (LAST MONTH)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205740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$40,379 / 86%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94360" y="26060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revenue month in some time · Scotiabank $35k anchor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5669280" cy="1371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645920"/>
            <a:ext cx="73152" cy="137160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75564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ACTUAL REVENUE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46520" y="205740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$40,605 / 87%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446520" y="26060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straight strong month · but AMBSE $10k + 11 deals ≤$4.9k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" y="32461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GOALS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566160"/>
            <a:ext cx="5669280" cy="1371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3566160"/>
            <a:ext cx="73152" cy="1371600"/>
          </a:xfrm>
          <a:prstGeom prst="rect">
            <a:avLst/>
          </a:prstGeom>
          <a:solidFill>
            <a:srgbClr val="E170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367588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PIPELINE CREATED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397764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~$101,000 / ~54%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594360" y="45262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deals · ~$5k avg ACV · calls collapsed to 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17920" y="3566160"/>
            <a:ext cx="5669280" cy="1371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17920" y="3566160"/>
            <a:ext cx="73152" cy="137160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367588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PIPELINE CREATED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46520" y="397764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~$179,000 / ~96%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446520" y="45262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deals · ~$7.8k avg · recovered — but inbound/expansion, 0 dials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5166360"/>
            <a:ext cx="11475720" cy="1188720"/>
          </a:xfrm>
          <a:prstGeom prst="roundRect">
            <a:avLst>
              <a:gd name="adj" fmla="val 7692"/>
            </a:avLst>
          </a:prstGeom>
          <a:solidFill>
            <a:srgbClr val="3D2E0D"/>
          </a:solidFill>
          <a:ln w="12700">
            <a:solidFill>
              <a:srgbClr val="FDCB6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5257800"/>
            <a:ext cx="11109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headline: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scorecard June is the "both engines on" month — revenue held 87% for a second straight month, pipe-gen recovered to ~96%. Underneath it is fragile: the number came from breadth + inbound + one carryover, </a:t>
            </a:r>
            <a:pPr indent="0" marL="0">
              <a:buNone/>
            </a:pPr>
            <a:r>
              <a:rPr lang="en-US" sz="13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$10k+ deal that closed, closed lost, and it was delivered on ZERO logged dials.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Plan — How It Played Out in June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5669280" cy="3657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173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MITs (FROM MAY PLAN)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53035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MIT #1 Restart the dial engine — TOTAL FAIL
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The #1 fix was ≥15 dials/day. Calls went 39 → 0 — the wrong direction, against ~22 Call Prep blocks Reclaim scheduled. The block-to-dial gap went from partial (May) to total (June).
</a:t>
            </a:r>
            <a:pPr indent="0" marL="0">
              <a:buNone/>
            </a:pPr>
            <a:r>
              <a:rPr lang="en-US" sz="12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MIT #2 MEDDICC breadth on every $10k+ deal — FAIL
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Every $10k+ deal that reached a close closed LOST: Unilever $40k, AdRoll $13k, AMN $12k, Celebrands $12k. The Scotiabank motion did not reach the big pipe.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7920" y="1280160"/>
            <a:ext cx="5669280" cy="36576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4173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 INSTEAD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0" y="1737360"/>
            <a:ext cx="53035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Revenue held 87% + pipe-gen recovered ~96%
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Both lines looked healthy — but on breadth (11 wins ≤$4.9k), one carryover (AMBSE $10k), inbound demos and expansion, not the two committed fixes.
</a:t>
            </a:r>
            <a:pPr indent="0" marL="0">
              <a:buNone/>
            </a:pPr>
            <a:r>
              <a:rPr lang="en-US" sz="12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 The structure held; the execution didn't
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~22 Call Prep blocks on the calendar, 0 dials inside them. Scheduling the intention is not making the call — proven a second, more complete time.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5166360"/>
            <a:ext cx="11475720" cy="1188720"/>
          </a:xfrm>
          <a:prstGeom prst="roundRect">
            <a:avLst>
              <a:gd name="adj" fmla="val 7692"/>
            </a:avLst>
          </a:prstGeom>
          <a:solidFill>
            <a:srgbClr val="222632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5257800"/>
            <a:ext cx="11109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one-sentence read: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didn't fix May's gap — it papered over it with volume and expansion. A green revenue number is hiding a stone-cold outbound engine and a $10k+ pipe leaking out the bottom. </a:t>
            </a:r>
            <a:pPr indent="0" marL="0">
              <a:buNone/>
            </a:pPr>
            <a:r>
              <a:rPr lang="en-US" sz="13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a Q3 revenue risk, not a recovery.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Review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3703320" cy="41148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280160"/>
            <a:ext cx="54864" cy="411480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1732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DID WELL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828800"/>
            <a:ext cx="34290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Two straight months near quota — 86% → 87%. </a:t>
            </a:r>
            <a:pPr indent="0" marL="0">
              <a:buNone/>
            </a:pPr>
            <a:r>
              <a:rPr lang="en-US" sz="10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April slump is firmly behind; back-to-back is durable.
</a:t>
            </a:r>
            <a:pPr indent="0" marL="0">
              <a:buNone/>
            </a:pPr>
            <a:r>
              <a:rPr lang="en-US" sz="10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Pipe-gen recovered to ~96% — ~$179k / 23 deals / ~$7.8k avg after May's ~54% scare
</a:t>
            </a:r>
            <a:pPr indent="0" marL="0">
              <a:buNone/>
            </a:pPr>
            <a:r>
              <a:rPr lang="en-US" sz="10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AMBSE finally closed ($10k) — the April "main swing" / May carryover is off the board
</a:t>
            </a:r>
            <a:pPr indent="0" marL="0">
              <a:buNone/>
            </a:pPr>
            <a:r>
              <a:rPr lang="en-US" sz="10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Expansion motion working — BRP (300-acct), Tracer, YMCA, Promega, CFG
</a:t>
            </a:r>
            <a:pPr indent="0" marL="0">
              <a:buNone/>
            </a:pPr>
            <a:r>
              <a:rPr lang="en-US" sz="10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Meetings held up (62, up from 54) — inbound demand real and being worked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51960" y="1280160"/>
            <a:ext cx="3703320" cy="41148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1280160"/>
            <a:ext cx="54864" cy="4114800"/>
          </a:xfrm>
          <a:prstGeom prst="rect">
            <a:avLst/>
          </a:prstGeom>
          <a:solidFill>
            <a:srgbClr val="E170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34840" y="141732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 NEED TO IMPROVE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434840" y="1828800"/>
            <a:ext cx="34290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Calls went to ZERO — 39 → 0. </a:t>
            </a:r>
            <a:pPr indent="0" marL="0">
              <a:buNone/>
            </a:pPr>
            <a:r>
              <a:rPr lang="en-US" sz="10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~22 Call Prep blocks, 0 dials. The #1 MIT moved backward.
</a:t>
            </a:r>
            <a:pPr indent="0" marL="0">
              <a:buNone/>
            </a:pPr>
            <a:r>
              <a:rPr lang="en-US" sz="10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Every $10k+ deal closed LOST — Unilever $40k, AdRoll $13k, AMN $12k, Celebrands $12k
</a:t>
            </a:r>
            <a:pPr indent="0" marL="0">
              <a:buNone/>
            </a:pPr>
            <a:r>
              <a:rPr lang="en-US" sz="10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Stale deals still dying at 300+ days — day-60 disqualification not enforced
</a:t>
            </a:r>
            <a:pPr indent="0" marL="0">
              <a:buNone/>
            </a:pPr>
            <a:r>
              <a:rPr lang="en-US" sz="10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Self-generated pipe near zero — contacts halved (90); no outbound floor under the number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138160" y="1280160"/>
            <a:ext cx="3703320" cy="41148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38160" y="1280160"/>
            <a:ext cx="54864" cy="4114800"/>
          </a:xfrm>
          <a:prstGeom prst="rect">
            <a:avLst/>
          </a:prstGeom>
          <a:solidFill>
            <a:srgbClr val="6C5C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41732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DEAL LEARNINGS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321040" y="1828800"/>
            <a:ext cx="34290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composition tells the story: </a:t>
            </a:r>
            <a:pPr indent="0" marL="0">
              <a:buNone/>
            </a:pPr>
            <a:r>
              <a:rPr lang="en-US" sz="10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of 12 wins were ≤$4.9k; the only $10k win (AMBSE) was already on the board.
</a:t>
            </a:r>
            <a:pPr indent="0" marL="0">
              <a:buNone/>
            </a:pPr>
            <a:r>
              <a:rPr lang="en-US" sz="10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Unilever ($40k, created 8/2025): </a:t>
            </a:r>
            <a:pPr indent="0" marL="0">
              <a:buNone/>
            </a:pPr>
            <a:r>
              <a:rPr lang="en-US" sz="10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~10-month stale death the day-60 rule was meant to prevent.
</a:t>
            </a:r>
            <a:pPr indent="0" marL="0">
              <a:buNone/>
            </a:pPr>
            <a:r>
              <a:rPr lang="en-US" sz="10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AMN ($12k): </a:t>
            </a:r>
            <a:pPr indent="0" marL="0">
              <a:buNone/>
            </a:pPr>
            <a:r>
              <a:rPr lang="en-US" sz="10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as live pipe for months, never got an EB — the DTCC lesson, repeated.
</a:t>
            </a:r>
            <a:pPr indent="0" marL="0">
              <a:buNone/>
            </a:pPr>
            <a:r>
              <a:rPr lang="en-US" sz="105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volume bill: </a:t>
            </a:r>
            <a:pPr indent="0" marL="0">
              <a:buNone/>
            </a:pPr>
            <a:r>
              <a:rPr lang="en-US" sz="105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months off the phones is invisible in June's revenue but is the Q3 pipeline risk.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4b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$10k+ Losses — Anatomy of the Pattern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188720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deal ≥$10k that closed in June closed lost — Unilever $40k, AdRoll $13k, AMN $12k, Celebrands $12k. The inverse of May's Scotiabank win. The same lesson, third month.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554480"/>
            <a:ext cx="3703320" cy="448056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554480"/>
            <a:ext cx="45720" cy="4480560"/>
          </a:xfrm>
          <a:prstGeom prst="rect">
            <a:avLst/>
          </a:prstGeom>
          <a:solidFill>
            <a:srgbClr val="E170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6420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WENT WRONG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011680"/>
            <a:ext cx="34747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Unilever Prestige ($40k) — created 8/2025, ~10-month cycle that never had a real next step
</a:t>
            </a:r>
            <a:pPr indent="0" marL="0">
              <a:buNone/>
            </a:pPr>
            <a:r>
              <a:rPr lang="en-US" sz="10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AdRoll ($13k) — created 6/2025, another ~12-month zombie that died loud
</a:t>
            </a:r>
            <a:pPr indent="0" marL="0">
              <a:buNone/>
            </a:pPr>
            <a:r>
              <a:rPr lang="en-US" sz="10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AMN ($12k) — named in the April pipeline, sat as live pipe for months with no EB
</a:t>
            </a:r>
            <a:pPr indent="0" marL="0">
              <a:buNone/>
            </a:pPr>
            <a:r>
              <a:rPr lang="en-US" sz="10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Celebrands ($12k) — entered and died in ~10 days, never qualified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251960" y="1554480"/>
            <a:ext cx="3703320" cy="448056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51960" y="1554480"/>
            <a:ext cx="45720" cy="4480560"/>
          </a:xfrm>
          <a:prstGeom prst="rect">
            <a:avLst/>
          </a:prstGeom>
          <a:solidFill>
            <a:srgbClr val="FDCB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0" y="166420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THEY DIED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89120" y="2011680"/>
            <a:ext cx="34747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EB / technical multi-thread — the motion that saved Scotiabank never ran
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Day-60 disqualification not enforced — zombies inflated pipe, then imploded
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Email-only follow-up on $10k+ deals — email doesn't advance or save the big deals
</a:t>
            </a:r>
            <a:pPr indent="0" marL="0">
              <a:buNone/>
            </a:pPr>
            <a:r>
              <a:rPr lang="en-US" sz="10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rep was reacting to inbound, not driving the late-stage motion on the big pipe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38160" y="1554480"/>
            <a:ext cx="3703320" cy="448056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38160" y="1554480"/>
            <a:ext cx="45720" cy="448056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75320" y="166420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REPLICABLE FIX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275320" y="2011680"/>
            <a:ext cx="34747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EB engaged before pricing on every $10k+ deal
</a:t>
            </a:r>
            <a:pPr indent="0" marL="0">
              <a:buNone/>
            </a:pPr>
            <a:r>
              <a:rPr lang="en-US" sz="10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Prep brief + technical multi-thread — the Scotiabank standard
</a:t>
            </a:r>
            <a:pPr indent="0" marL="0">
              <a:buNone/>
            </a:pPr>
            <a:r>
              <a:rPr lang="en-US" sz="10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Security/legal docs pushed early; day-60 disqualification swept every Friday
</a:t>
            </a:r>
            <a:pPr indent="0" marL="0">
              <a:buNone/>
            </a:pPr>
            <a:r>
              <a:rPr lang="en-US" sz="10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what: 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the standard for Upwork, RLE, Shubert, TaxAct, BlueDoor — July's $10k+ pipe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Pipeline Gen Recap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11475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828800"/>
                <a:gridCol w="1463040"/>
                <a:gridCol w="50749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(ERR)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Business (inbound)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~$95,000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~$7,300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Mostly Growth/MCP; Shubert $12k, TaxAct $10k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Cross-sell / Upsell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~$60,000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~$8,600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BRP DACT $25k, RLE $20k, WestGate $7.5k, YMCA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 DACT new-biz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~$24,000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~$8,000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Tadi $25k, MS Buildon $25k — early, prone to stall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~$179,000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~$7,800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365760" y="3520440"/>
            <a:ext cx="11475720" cy="457200"/>
          </a:xfrm>
          <a:prstGeom prst="rect">
            <a:avLst/>
          </a:prstGeom>
          <a:solidFill>
            <a:srgbClr val="143A2E"/>
          </a:solidFill>
          <a:ln w="6350">
            <a:solidFill>
              <a:srgbClr val="00B89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356616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Goal: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$187,000  </a:t>
            </a:r>
            <a:pPr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~96%</a:t>
            </a:r>
            <a:pPr indent="0" marL="0">
              <a:buNone/>
            </a:pPr>
            <a:r>
              <a:rPr lang="en-US" sz="13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recovered from April's 103% dip through May's ~54%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65760" y="4480560"/>
            <a:ext cx="11475720" cy="1554480"/>
          </a:xfrm>
          <a:prstGeom prst="roundRect">
            <a:avLst>
              <a:gd name="adj" fmla="val 5882"/>
            </a:avLst>
          </a:prstGeom>
          <a:solidFill>
            <a:srgbClr val="3D2E0D"/>
          </a:solidFill>
          <a:ln w="12700">
            <a:solidFill>
              <a:srgbClr val="FDCB6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4572000"/>
            <a:ext cx="111556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~96% is genuinely good and avg ACV is back to ~$7.8k (May: ~$5k). But read where it came from — almost none is outbound-sourced (calls = 0). It's inbound new-business plus expansion (BRP, Tracer, RLE, WestGate, YMCA). Three of the biggest are $25k DACT deals (Tadi, MS Buildon, BRP) — early-stage and, on this account's history, exactly the profile that stalls at Qualification.
</a:t>
            </a:r>
            <a:pPr indent="0" marL="0">
              <a:buNone/>
            </a:pPr>
            <a:r>
              <a:rPr lang="en-US" sz="1100" i="1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recovery is real but not durable or self-generated — the inbound machine working, not the rep prospecting. If inbound softens, there is no outbound floor.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2026 — The Recovery, and the Catch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325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GEN % TO GOAL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45920"/>
          <a:ext cx="55778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554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Goal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January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February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April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52628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→ 90 → 89 → 103 → 54 → 96.  The pipe-gen arc recovered.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309360" y="1325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% TO QUOTA</a:t>
            </a:r>
            <a:endParaRPr lang="en-US" sz="11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645920"/>
          <a:ext cx="55778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01168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Quota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April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$17,213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$40,379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$40,605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6309360" y="288036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→ 86 → 87.  Two straight months near quota — but calls: 280 → 39 → 0.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365760" y="5029200"/>
            <a:ext cx="11475720" cy="1188720"/>
          </a:xfrm>
          <a:prstGeom prst="roundRect">
            <a:avLst>
              <a:gd name="adj" fmla="val 7692"/>
            </a:avLst>
          </a:prstGeom>
          <a:solidFill>
            <a:srgbClr val="222632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48640" y="5120640"/>
            <a:ext cx="11155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pattern: </a:t>
            </a:r>
            <a:pPr indent="0" marL="0">
              <a:buNone/>
            </a:pPr>
            <a:r>
              <a:rPr lang="en-US" sz="14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headline lines are green — revenue held, pipe-gen recovered. But the calls line (280 → 39 → 0) kept breaking, and every $10k+ close was a loss. </a:t>
            </a:r>
            <a:pPr indent="0" marL="0">
              <a:buNone/>
            </a:pPr>
            <a:r>
              <a:rPr lang="en-US" sz="14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scorecard is green; the engine underneath is cold.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Closed Deal Execution — The Real Story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2743200" cy="11887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(WON)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16459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$40.6k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2194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 to quota · 12 deals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91840" y="1280160"/>
            <a:ext cx="2743200" cy="11887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2900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WIN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29000" y="16459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429000" y="2194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AMBSE · carryover, not new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1280160"/>
            <a:ext cx="2743200" cy="11887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LOST (Y1 ACV)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355080" y="16459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~$93k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355080" y="2194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deals · every $10k+ lost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144000" y="1280160"/>
            <a:ext cx="2743200" cy="118872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81160" y="1371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CLOSED ACTIVITY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281160" y="16459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−$52k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281160" y="2194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 minus lost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5760" y="2697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LOSSES THAT MATTERED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017520"/>
          <a:ext cx="114757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1280160"/>
                <a:gridCol w="34290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ACV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 what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Stale-deal deaths (300+ days)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Unilever Prestige ($40k, created 8/2025), AdRoll ($13k, created 6/2025)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~$53,000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~10–12 mo cycles, no real next step. The Industry Dive death, repeated.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$10k+ that never got the motion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AMN ($12k, in the April pipe), Celebrands ($12k, died in ~10d)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~$24,000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MEDDICC breadth (May MIT) never reached them. No EB; Celebrands died unqualified.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 / small cleanup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Charter One ($6k), Furnished Finder ($4k), Poppy ($2k), PSA ($2k), AHS ($2k)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~$16,000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Long-cycle small deals dispositioned — the healthy part of the number.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365760" y="5532120"/>
            <a:ext cx="11475720" cy="822960"/>
          </a:xfrm>
          <a:prstGeom prst="roundRect">
            <a:avLst>
              <a:gd name="adj" fmla="val 11111"/>
            </a:avLst>
          </a:prstGeom>
          <a:solidFill>
            <a:srgbClr val="3A2520"/>
          </a:solidFill>
          <a:ln w="12700">
            <a:solidFill>
              <a:srgbClr val="E1705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559612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lesson, three months old: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$10k+ pipe converts only when the full MEDDICC/EB/security motion runs on it (Scotiabank $35k), and it dies when it doesn't (Unilever, AdRoll, AMN, Celebrands). </a:t>
            </a:r>
            <a:pPr indent="0" marL="0">
              <a:buNone/>
            </a:pPr>
            <a:r>
              <a:rPr lang="en-US" sz="12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July's job: give every $10k+ deal the Scotiabank treatment.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MITs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371600"/>
            <a:ext cx="5669280" cy="45720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371600"/>
            <a:ext cx="73152" cy="4572000"/>
          </a:xfrm>
          <a:prstGeom prst="rect">
            <a:avLst/>
          </a:prstGeom>
          <a:solidFill>
            <a:srgbClr val="74B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600200"/>
            <a:ext cx="731520" cy="731520"/>
          </a:xfrm>
          <a:prstGeom prst="ellipse">
            <a:avLst/>
          </a:prstGeom>
          <a:solidFill>
            <a:srgbClr val="74B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627632"/>
            <a:ext cx="731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554480" y="1645920"/>
            <a:ext cx="4297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PHONES ON — MEASURED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2560320"/>
            <a:ext cx="51663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Dials have been cold two months (39 → 0). The Call Prep block clearly isn't enough — pair every block with a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≥15 logged-dial/day target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same-day dial count, and a weekly 1:1 accountability check. 300+ dials for July. This is now non-negotiable and escalated.
</a:t>
            </a:r>
            <a:pPr indent="0" marL="0">
              <a:buNone/>
            </a:pPr>
            <a:r>
              <a:rPr lang="en-US" sz="1100" i="1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headline MIT — June hit the number on inbound while the outbound engine stayed stone cold. July refuses that.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5669280" cy="45720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371600"/>
            <a:ext cx="73152" cy="4572000"/>
          </a:xfrm>
          <a:prstGeom prst="rect">
            <a:avLst/>
          </a:prstGeom>
          <a:solidFill>
            <a:srgbClr val="6C5C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37960" y="1600200"/>
            <a:ext cx="731520" cy="731520"/>
          </a:xfrm>
          <a:prstGeom prst="ellipse">
            <a:avLst/>
          </a:prstGeom>
          <a:solidFill>
            <a:srgbClr val="6C5C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37960" y="1627632"/>
            <a:ext cx="731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7406640" y="1645920"/>
            <a:ext cx="4297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THE $10k+ PIPE — STOP LIVING ON &lt;$5k BREADTH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37960" y="2560320"/>
            <a:ext cx="51663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hit 87% on 11 small deals + one carryover while every $10k+ deal died. Run the full Scotiabank-style MEDDICC/EB/security motion across Upwork, RLE, Shubert, TaxAct, BlueDoor. Enforce day-60 disqualification (the Unilever/AdRoll lesson).
</a:t>
            </a:r>
            <a:pPr indent="0" marL="0">
              <a:buNone/>
            </a:pPr>
            <a:r>
              <a:rPr lang="en-US" sz="1100" i="1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proved I can hit the number on breadth. July must prove I can close big deals again — quality and self-generated volume at once.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9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Funnel Math — Top-Down Derivation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5669280" cy="41148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7160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INPUTS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53035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July revenue quota: </a:t>
            </a:r>
            <a:pPr indent="0" marL="0">
              <a:buNone/>
            </a:pPr>
            <a:r>
              <a:rPr lang="en-US" sz="12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$23,400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(reduced — July only; full $46,750 resumes Aug)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Pipeline goal: </a:t>
            </a:r>
            <a:pPr indent="0" marL="0">
              <a:buNone/>
            </a:pPr>
            <a:r>
              <a:rPr lang="en-US" sz="12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$187,000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(held at full-month 4×)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Plan target: </a:t>
            </a:r>
            <a:pPr indent="0" marL="0">
              <a:buNone/>
            </a:pPr>
            <a:r>
              <a:rPr lang="en-US" sz="12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$200,000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(+7% buffer)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ACV baseline: </a:t>
            </a:r>
            <a:pPr indent="0" marL="0">
              <a:buNone/>
            </a:pPr>
            <a:r>
              <a:rPr lang="en-US" sz="12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$11,000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(6-mo avg) — but June's actual win ACV was ~$3.4k; the gap IS the coaching point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33832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BACKED-OUT TARGETS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703320"/>
            <a:ext cx="5303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Deals needed: </a:t>
            </a:r>
            <a:pPr indent="0" marL="0">
              <a:buNone/>
            </a:pPr>
            <a:r>
              <a:rPr lang="en-US" sz="12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~18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($200k ÷ $11k)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Booked meetings: </a:t>
            </a:r>
            <a:pPr indent="0" marL="0">
              <a:buNone/>
            </a:pPr>
            <a:r>
              <a:rPr lang="en-US" sz="12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Contacts enrolled: </a:t>
            </a:r>
            <a:pPr indent="0" marL="0">
              <a:buNone/>
            </a:pPr>
            <a:r>
              <a:rPr lang="en-US" sz="12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~330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(June halved to 90 — push back up)
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Calls: </a:t>
            </a:r>
            <a:pPr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~300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explicit fix for the June miss (0 → 300)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280160"/>
            <a:ext cx="5669280" cy="41148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37160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BASELINE → JULY TARGET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691640"/>
          <a:ext cx="53035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14400"/>
                <a:gridCol w="91440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logged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 zero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Contacts created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Emails sent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Meetings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~flat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deals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fewer · larger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 generated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~$179k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6400800" y="4663440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lever is calls. June's 0 is the number to fix; everything else follows from putting dials back inside the ~22 Call Prep blocks that already exist and go unused.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65760" y="5577840"/>
            <a:ext cx="11475720" cy="777240"/>
          </a:xfrm>
          <a:prstGeom prst="roundRect">
            <a:avLst>
              <a:gd name="adj" fmla="val 11765"/>
            </a:avLst>
          </a:prstGeom>
          <a:solidFill>
            <a:srgbClr val="222632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5650992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shift: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proved volume. May proved conversion. June proved breadth+inbound. </a:t>
            </a:r>
            <a:pPr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proves the outbound floor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dial engine back on, with Scotiabank-grade MEDDICC behind every $10k+ deal.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Daily Activity Targets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188720"/>
            <a:ext cx="11521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working days in July (Jul 1–31; Jul 3 holiday for July 4 observed). The June lesson: a block on the calendar is not a dial made — zero dials on 22 blocks proves the block alone does nothing. July counts dials, not blocks.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45920"/>
          <a:ext cx="114757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1280160"/>
                <a:gridCol w="1463040"/>
                <a:gridCol w="46177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Weekly (avg)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(22d)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/ dials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~15/day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June miss (0). Logged inside Call Prep blocks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contacts enrolled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~15/day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Email-verified before enroll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Emails sent (cadence)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~46/day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Cadence queue worked 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 touches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~10/day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connect + 3 InMail + 3 comments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Net-new accounts worked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~3-4/day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 list-build to put an outbound floor down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Booked meetings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~3/day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 closing + new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Net-new deals created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~4-5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~1/day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Fewer, larger · $11k+ ACV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5440680"/>
            <a:ext cx="11475720" cy="914400"/>
          </a:xfrm>
          <a:prstGeom prst="roundRect">
            <a:avLst>
              <a:gd name="adj" fmla="val 10000"/>
            </a:avLst>
          </a:prstGeom>
          <a:solidFill>
            <a:srgbClr val="3D2E0D"/>
          </a:solidFill>
          <a:ln w="12700">
            <a:solidFill>
              <a:srgbClr val="FDCB6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5532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"no exceptions" line: </a:t>
            </a:r>
            <a:pPr indent="0" marL="0">
              <a:buNone/>
            </a:pPr>
            <a:r>
              <a:rPr lang="en-US" sz="12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logged dials on every working day.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had the blocks (~22 Call Prep) and made 0 dials. The metric that matters is calls logged, not calendar coverage — zero is not an option.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Work the Activities — Dials Inside the Blocks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1475720" cy="822960"/>
          </a:xfrm>
          <a:prstGeom prst="roundRect">
            <a:avLst>
              <a:gd name="adj" fmla="val 11111"/>
            </a:avLst>
          </a:prstGeom>
          <a:solidFill>
            <a:srgbClr val="231D3D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280160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Commit: 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Reclaim blocks already exist and held all June. The July change is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 inside the block</a:t>
            </a:r>
            <a:pPr indent="0" marL="0">
              <a:buNone/>
            </a:pPr>
            <a:r>
              <a:rPr lang="en-US" sz="13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every Call Prep block ends with dials logged in HubSpot, counted same-day, reviewed weekly in the 1:1. In July the dial count is the contract.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list build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Mondays · 60 min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20 net-new accounts to put an outbound floor under the inbound number: ZoomInfo + intent + 2025 closed-lost rework.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2761488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enrollment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AM · 30 min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035808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contacts/day · verify email before enroll (June halved to 90).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3328416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Cadence + dials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AM · 60 min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60273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~46 emails + ≥15 dials due today — LOGGED. The dials are the part that hit zero in June.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" y="3895344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block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midday · 20 min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4169664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connect + 3 InMail + 3 comments on target-account posts.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5760" y="4462272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Mid-funnel block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PM · 60 min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4736592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Scotiabank-style motion on every $10k+ deal: EB, technical multi-thread, security docs early.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5760" y="5029200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 hygiene + MEDDICC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· 90 min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5303520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Day-60 disqualification sweep — every deal 60+ days with no next step (Unilever/AdRoll rule). Update MEDDICC card on every Stage 2+ deal.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65760" y="5596128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</a:t>
            </a:r>
            <a:pPr indent="0" marL="0">
              <a:buNone/>
            </a:pPr>
            <a:r>
              <a:rPr lang="en-US" sz="13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Closed-lost rework</a:t>
            </a:r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</a:t>
            </a:r>
            <a:pPr indent="0" marL="0">
              <a:buNone/>
            </a:pPr>
            <a:r>
              <a:rPr lang="en-US" sz="1100" b="1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Tuesdays · 45 min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5870448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accounts/wk from 2025 closed-lost · restart with MCP/AI angle.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True Pipeline — $106.9k Open (Command Center · Jul 8)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80160"/>
          <a:ext cx="11475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468880"/>
                <a:gridCol w="1280160"/>
                <a:gridCol w="2011680"/>
                <a:gridCol w="1280160"/>
                <a:gridCol w="26060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Close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Shopify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Ads | $2k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$1,750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MIC/MCP | $15k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$11,500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Agreement · legal/DPA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Shronk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| $2k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Kraken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| $3.5k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$3,468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DCB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 Sales Ops reopen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$2,400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 Agent | $7.5k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4B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$4,900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TaskRabbit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 Agent | $5k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4B9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BQ | $20k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C5CE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of Value · main swing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(~15)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Growth/MCP/Claude $2-4k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~$55,500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~$13,000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 July-close deals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$106,900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$46,100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A2E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365760" y="5074920"/>
            <a:ext cx="11475720" cy="502920"/>
          </a:xfrm>
          <a:prstGeom prst="rect">
            <a:avLst/>
          </a:prstGeom>
          <a:solidFill>
            <a:srgbClr val="3A2520"/>
          </a:solidFill>
          <a:ln w="6350">
            <a:solidFill>
              <a:srgbClr val="E1705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5120640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/ overdue (re-date or disqualify · not in the $106.9k July-close):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Soccer $40k (overdue 5/28), BlueDoor $10k (overdue 6/25), IA $5k (overdue 5/28)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65760" y="5715000"/>
            <a:ext cx="11521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Command-center reconciled (Jul 8): $18.8k already committed (81% of the reduced $23.4k July quota), $46.1k weighted (197%). Coverage is not the risk — it's a no-anchor portfolio of $7–20k deals. MEDDICC breadth on RLE, Upwork, HA is the MIT. Kraken pending Sales Ops reopen; HubSpot|MCP moved to Aug.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Forecast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7315200" cy="50292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71600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(HIGH-CONFIDENCE)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Upwork — $9.8k (85%) </a:t>
            </a:r>
            <a:pPr indent="0" marL="0">
              <a:buNone/>
            </a:pPr>
            <a:r>
              <a:rPr lang="en-US" sz="11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in Agreement, moving through legal/DPA — strongest close signal (Gmail thread through 6/29)
</a:t>
            </a:r>
            <a:pPr indent="0" marL="0">
              <a:buNone/>
            </a:pPr>
            <a:r>
              <a:rPr lang="en-US" sz="12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Shopify $1.6k (90%) · Shronk $1.6k (75%) · Kraken $2.4k (70%) </a:t>
            </a:r>
            <a:pPr indent="0" marL="0">
              <a:buNone/>
            </a:pPr>
            <a:r>
              <a:rPr lang="en-US" sz="11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the other committed deals · $18.8k confirmed FC total (81% of quota). Kraken pending Sales Ops reopen.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743200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DEALS (THE MONTH IS MADE HERE)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063240"/>
            <a:ext cx="69494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RLE ($20k, 50%) — new POV, main swing </a:t>
            </a:r>
            <a:pPr indent="0" marL="0">
              <a:buNone/>
            </a:pPr>
            <a:r>
              <a:rPr lang="en-US" sz="11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$10k weighted · value narrative + ROI on the POV
</a:t>
            </a:r>
            <a:pPr indent="0" marL="0">
              <a:buNone/>
            </a:pPr>
            <a:r>
              <a:rPr lang="en-US" sz="12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HA ($7.5k, 65%) </a:t>
            </a:r>
            <a:pPr indent="0" marL="0">
              <a:buNone/>
            </a:pPr>
            <a:r>
              <a:rPr lang="en-US" sz="11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Gemini Agent · drive qualification → proposal
</a:t>
            </a:r>
            <a:pPr indent="0" marL="0">
              <a:buNone/>
            </a:pPr>
            <a:r>
              <a:rPr lang="en-US" sz="12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Shubert ($12k, 10%) </a:t>
            </a:r>
            <a:pPr indent="0" marL="0">
              <a:buNone/>
            </a:pPr>
            <a:r>
              <a:rPr lang="en-US" sz="11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early · EB conversation before pricing
</a:t>
            </a:r>
            <a:pPr indent="0" marL="0">
              <a:buNone/>
            </a:pPr>
            <a:r>
              <a:rPr lang="en-US" sz="12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WestGate ($7.5k, 10%) </a:t>
            </a:r>
            <a:pPr indent="0" marL="0">
              <a:buNone/>
            </a:pPr>
            <a:r>
              <a:rPr lang="en-US" sz="11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POV expansion · quantify value
</a:t>
            </a:r>
            <a:pPr indent="0" marL="0">
              <a:buNone/>
            </a:pPr>
            <a:r>
              <a:rPr lang="en-US" sz="12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US Soccer ($40k) — overdue 5/28, re-date or disqualify by 7/11 </a:t>
            </a:r>
            <a:pPr indent="0" marL="0">
              <a:buNone/>
            </a:pPr>
            <a:r>
              <a:rPr lang="en-US" sz="11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not in the $106.9k July-close
</a:t>
            </a:r>
            <a:pPr indent="0" marL="0">
              <a:buNone/>
            </a:pPr>
            <a:r>
              <a:rPr lang="en-US" sz="12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 BlueDoor ($10k) </a:t>
            </a:r>
            <a:pPr indent="0" marL="0">
              <a:buNone/>
            </a:pPr>
            <a:r>
              <a:rPr lang="en-US" sz="11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overdue 6/25 · quantify pain or disqualify by day-60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5394960"/>
            <a:ext cx="6949440" cy="777240"/>
          </a:xfrm>
          <a:prstGeom prst="roundRect">
            <a:avLst>
              <a:gd name="adj" fmla="val 9412"/>
            </a:avLst>
          </a:prstGeom>
          <a:solidFill>
            <a:srgbClr val="3D2E0D"/>
          </a:solidFill>
          <a:ln w="12700">
            <a:solidFill>
              <a:srgbClr val="FDCB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5449824"/>
            <a:ext cx="667512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narrative: </a:t>
            </a:r>
            <a:pPr indent="0" marL="0">
              <a:buNone/>
            </a:pPr>
            <a:r>
              <a:rPr lang="en-US" sz="105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opens $0 closed but 197% weighted-covered ($46.1k) on the reduced $23.4k quota — $18.8k already committed (81%). Coverage is not the risk; conversion is. A no-anchor portfolio converts only if MEDDICC runs on every $10k+, and the dials must come back — or a green forecast hides a cold-outbound Q3.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863840" y="1280160"/>
            <a:ext cx="4023360" cy="502920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0" y="1371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/ OPEN PIPELINE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046720" y="17830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Quota (reduced)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058400" y="178308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$23,400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46720" y="22402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Won (MTD)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058400" y="224028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046720" y="2697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FC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058400" y="269748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$18,800 · 81%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046720" y="31546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FC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058400" y="315468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$46,100 · 197%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046720" y="36118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Pipeline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058400" y="361188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$106,900 · 457%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046720" y="40690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Open Deals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058400" y="406908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046720" y="4663440"/>
            <a:ext cx="3657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pipe covers the reduced July quota 1.97× and $18.8k is already committed (81%). Coverage is healthy — the risk is the no-anchor, all-inbound mix. Every $10k+ deal still needs the MEDDICC motion. (Full $46,750 quota resumes Aug.)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13b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MEDDICC — Proven on Scotiabank, Missing in June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1475720" cy="777240"/>
          </a:xfrm>
          <a:prstGeom prst="roundRect">
            <a:avLst>
              <a:gd name="adj" fmla="val 11765"/>
            </a:avLst>
          </a:prstGeom>
          <a:solidFill>
            <a:srgbClr val="143A2E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261872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Scotiabank proved MEDDICC converts flagship deals. June forgot it —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$10k+ deal died stale, unqualified, or without an EB. The July job is breadth: run the exact Scotiabank motion on every $10k+ deal, not just whatever inbound sends.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2148840"/>
            <a:ext cx="3703320" cy="38404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2148840"/>
            <a:ext cx="45720" cy="3840480"/>
          </a:xfrm>
          <a:prstGeom prst="rect">
            <a:avLst/>
          </a:prstGeom>
          <a:solidFill>
            <a:srgbClr val="00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25856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WON SCOTIABANK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02920" y="2606040"/>
            <a:ext cx="34747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pPr indent="0" marL="0">
              <a:buNone/>
            </a:pPr>
            <a:r>
              <a:rPr lang="en-US" sz="10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conomic Buyer — engaged + decision path live through signature
</a:t>
            </a:r>
            <a:pPr indent="0" marL="0">
              <a:buNone/>
            </a:pPr>
            <a:r>
              <a:rPr lang="en-US" sz="11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multi-thread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engineering org, not just champion
</a:t>
            </a:r>
            <a:pPr indent="0" marL="0">
              <a:buNone/>
            </a:pPr>
            <a:r>
              <a:rPr lang="en-US" sz="11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pPr indent="0" marL="0">
              <a:buNone/>
            </a:pPr>
            <a:r>
              <a:rPr lang="en-US" sz="10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 Process — security/DR docs early, confirmed received
</a:t>
            </a:r>
            <a:pPr indent="0" marL="0">
              <a:buNone/>
            </a:pPr>
            <a:r>
              <a:rPr lang="en-US" sz="1100" b="1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 brief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the technical call — objections anticipated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51960" y="2148840"/>
            <a:ext cx="3703320" cy="38404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51960" y="2148840"/>
            <a:ext cx="45720" cy="3840480"/>
          </a:xfrm>
          <a:prstGeom prst="rect">
            <a:avLst/>
          </a:prstGeom>
          <a:solidFill>
            <a:srgbClr val="E170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89120" y="225856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LOST JUNE'S $10k+ DEALS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389120" y="2606040"/>
            <a:ext cx="34747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No EB motion ran (AMN — sat live for months)
</a:t>
            </a:r>
            <a:pPr indent="0" marL="0">
              <a:buNone/>
            </a:pPr>
            <a:r>
              <a:rPr lang="en-US" sz="10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~10–12 month stale deaths, no next step (Unilever, AdRoll)
</a:t>
            </a:r>
            <a:pPr indent="0" marL="0">
              <a:buNone/>
            </a:pPr>
            <a:r>
              <a:rPr lang="en-US" sz="10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Died unqualified in ~10 days (Celebrands)
</a:t>
            </a:r>
            <a:pPr indent="0" marL="0">
              <a:buNone/>
            </a:pPr>
            <a:r>
              <a:rPr lang="en-US" sz="10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Day-60 disqualification rule not enforced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138160" y="2148840"/>
            <a:ext cx="3703320" cy="384048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38160" y="2148840"/>
            <a:ext cx="45720" cy="3840480"/>
          </a:xfrm>
          <a:prstGeom prst="rect">
            <a:avLst/>
          </a:prstGeom>
          <a:solidFill>
            <a:srgbClr val="74B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75320" y="225856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OPERATING RHYTHM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75320" y="2606040"/>
            <a:ext cx="34747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Day 1: open MEDDICC card, rate R/Y/G
</a:t>
            </a:r>
            <a:pPr indent="0" marL="0">
              <a:buNone/>
            </a:pPr>
            <a:r>
              <a:rPr lang="en-US" sz="10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Every $10k+ deal: EB booked before pricing
</a:t>
            </a:r>
            <a:pPr indent="0" marL="0">
              <a:buNone/>
            </a:pPr>
            <a:r>
              <a:rPr lang="en-US" sz="10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Every technical call: written prep brief
</a:t>
            </a:r>
            <a:pPr indent="0" marL="0">
              <a:buNone/>
            </a:pPr>
            <a:r>
              <a:rPr lang="en-US" sz="10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Friday: disqualify anything 60d+ with no next step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13d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MEDDICC Targets — Per Active Deal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188720"/>
            <a:ext cx="11521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major open deal · the red-to-fix dimension · the July action. Plus two loss autopsies carried from June.</a:t>
            </a:r>
            <a:endParaRPr lang="en-US" sz="1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114757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914400"/>
                <a:gridCol w="2377440"/>
                <a:gridCol w="452628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Weakest Dimension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July Action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3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 Process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 legal/DPA — drive to signature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narrative + ROI on the POV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Soccer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Process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next step or re-date / disqualify (overdue 5/28)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Shubert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Economic Buyer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 conversation before pricing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Champion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Multi-thread / champion test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BlueDoor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Pain (urgency)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Quantify or disqualify by day-60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Unilever (autopsy)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5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$40k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5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Process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5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1-pager: the ~10-month stale death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5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5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AMN (autopsy)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5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170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$12k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5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Economic Buyer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5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B8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1-pager: the SNO deal that never got an EB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5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E4E6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52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5486400"/>
            <a:ext cx="11475720" cy="822960"/>
          </a:xfrm>
          <a:prstGeom prst="roundRect">
            <a:avLst>
              <a:gd name="adj" fmla="val 11111"/>
            </a:avLst>
          </a:prstGeom>
          <a:solidFill>
            <a:srgbClr val="3A2520"/>
          </a:solidFill>
          <a:ln w="12700">
            <a:solidFill>
              <a:srgbClr val="E1705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5550408"/>
            <a:ext cx="11155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1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Pattern: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deals that win (Scotiabank, AMBSE eventually) get multi-threaded and driven; the deals that lose (Unilever, AdRoll, AMN) sit until they die. </a:t>
            </a:r>
            <a:pPr indent="0" marL="0">
              <a:buNone/>
            </a:pPr>
            <a:r>
              <a:rPr lang="en-US" sz="1200" b="1" dirty="0">
                <a:solidFill>
                  <a:srgbClr val="FDC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lesson, third month — July is about not learning it a fourth time.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Coaching Focus — July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5669280" cy="237744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280160"/>
            <a:ext cx="73152" cy="2377440"/>
          </a:xfrm>
          <a:prstGeom prst="rect">
            <a:avLst/>
          </a:prstGeom>
          <a:solidFill>
            <a:srgbClr val="74B9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173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4B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— DIAL DISCIPLINE (ESCALATED)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828800"/>
            <a:ext cx="5303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Now a two-month failure (39 → 0) — block + logged-dial target + weekly review
</a:t>
            </a:r>
            <a:pPr indent="0" marL="0">
              <a:buNone/>
            </a:pPr>
            <a:r>
              <a:rPr lang="en-US" sz="11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≥15 dials/day, logged in HubSpot, counted same-day. Non-negotiable
</a:t>
            </a:r>
            <a:pPr indent="0" marL="0">
              <a:buNone/>
            </a:pPr>
            <a:r>
              <a:rPr lang="en-US" sz="11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Walk one day's call log in each 1:1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1280160"/>
            <a:ext cx="5669280" cy="2377440"/>
          </a:xfrm>
          <a:prstGeom prst="rect">
            <a:avLst/>
          </a:prstGeom>
          <a:solidFill>
            <a:srgbClr val="222632"/>
          </a:solidFill>
          <a:ln w="6350">
            <a:solidFill>
              <a:srgbClr val="2A2E3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0" y="1280160"/>
            <a:ext cx="73152" cy="2377440"/>
          </a:xfrm>
          <a:prstGeom prst="rect">
            <a:avLst/>
          </a:prstGeom>
          <a:solidFill>
            <a:srgbClr val="6C5C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4173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— MEDDICC BREADTH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0" y="1828800"/>
            <a:ext cx="5303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Full Scotiabank motion on every $10k+ late-stage deal, not just inbound
</a:t>
            </a:r>
            <a:pPr indent="0" marL="0">
              <a:buNone/>
            </a:pPr>
            <a:r>
              <a:rPr lang="en-US" sz="11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 deal card walked through every weekly 1:1
</a:t>
            </a:r>
            <a:pPr indent="0" marL="0">
              <a:buNone/>
            </a:pPr>
            <a:r>
              <a:rPr lang="en-US" sz="11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Day-60 disqualification enforced (Unilever/AdRoll lesson)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3840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&amp; CARRY-FORWARD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5760" y="4160520"/>
            <a:ext cx="11521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New theme — Day-60 disqualification.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Unilever ($40k) and AdRoll ($13k) are June's stale deaths — kill zombies before they inflate and then implode the pipe.
</a:t>
            </a:r>
            <a:pPr indent="0" marL="0">
              <a:buNone/>
            </a:pPr>
            <a:r>
              <a:rPr lang="en-US" sz="12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Carried forward: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Narratives on $10k+ deals · Exec Summaries on top 3 · "sustain, don't sprint" — two motions at once.
</a:t>
            </a:r>
            <a:pPr indent="0" marL="0">
              <a:buNone/>
            </a:pPr>
            <a:r>
              <a:rPr lang="en-US" sz="12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one-line goal: </a:t>
            </a:r>
            <a:pPr indent="0" marL="0">
              <a:buNone/>
            </a:pPr>
            <a:r>
              <a:rPr lang="en-US" sz="1200" dirty="0">
                <a:solidFill>
                  <a:srgbClr val="E4E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an outbound floor under a green June and close big deals again — don't let a green number hide a cold-outbound Q3.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June 2026 NAM MBR — Thomas R Lindsey</dc:title>
  <dc:subject>PptxGenJS Presentation</dc:subject>
  <dc:creator>Thomas R Lindsey</dc:creator>
  <cp:lastModifiedBy>Thomas R Lindsey</cp:lastModifiedBy>
  <cp:revision>1</cp:revision>
  <dcterms:created xsi:type="dcterms:W3CDTF">2026-07-08T01:45:29Z</dcterms:created>
  <dcterms:modified xsi:type="dcterms:W3CDTF">2026-07-08T01:45:29Z</dcterms:modified>
</cp:coreProperties>
</file>